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Garet Bold" charset="1" panose="00000000000000000000"/>
      <p:regular r:id="rId18"/>
    </p:embeddedFont>
    <p:embeddedFont>
      <p:font typeface="Poppins" charset="1" panose="00000500000000000000"/>
      <p:regular r:id="rId19"/>
    </p:embeddedFont>
    <p:embeddedFont>
      <p:font typeface="Garet" charset="1" panose="0000000000000000000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Relationship Id="rId8" Target="../media/image13.png" Type="http://schemas.openxmlformats.org/officeDocument/2006/relationships/image"/><Relationship Id="rId9" Target="../media/image14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5.png" Type="http://schemas.openxmlformats.org/officeDocument/2006/relationships/image"/><Relationship Id="rId5" Target="../media/image16.svg" Type="http://schemas.openxmlformats.org/officeDocument/2006/relationships/image"/><Relationship Id="rId6" Target="../media/image17.png" Type="http://schemas.openxmlformats.org/officeDocument/2006/relationships/image"/><Relationship Id="rId7" Target="../media/image18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19.png" Type="http://schemas.openxmlformats.org/officeDocument/2006/relationships/image"/><Relationship Id="rId7" Target="../media/image20.svg" Type="http://schemas.openxmlformats.org/officeDocument/2006/relationships/image"/><Relationship Id="rId8" Target="../media/image21.png" Type="http://schemas.openxmlformats.org/officeDocument/2006/relationships/image"/><Relationship Id="rId9" Target="../media/image22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23.png" Type="http://schemas.openxmlformats.org/officeDocument/2006/relationships/image"/><Relationship Id="rId5" Target="../media/image24.svg" Type="http://schemas.openxmlformats.org/officeDocument/2006/relationships/image"/><Relationship Id="rId6" Target="../media/image25.png" Type="http://schemas.openxmlformats.org/officeDocument/2006/relationships/image"/><Relationship Id="rId7" Target="../media/image26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27.png" Type="http://schemas.openxmlformats.org/officeDocument/2006/relationships/image"/><Relationship Id="rId7" Target="../media/image28.svg" Type="http://schemas.openxmlformats.org/officeDocument/2006/relationships/image"/><Relationship Id="rId8" Target="../media/image17.png" Type="http://schemas.openxmlformats.org/officeDocument/2006/relationships/image"/><Relationship Id="rId9" Target="../media/image18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29.png" Type="http://schemas.openxmlformats.org/officeDocument/2006/relationships/image"/><Relationship Id="rId7" Target="../media/image30.svg" Type="http://schemas.openxmlformats.org/officeDocument/2006/relationships/image"/><Relationship Id="rId8" Target="../media/image31.png" Type="http://schemas.openxmlformats.org/officeDocument/2006/relationships/image"/><Relationship Id="rId9" Target="../media/image32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33.png" Type="http://schemas.openxmlformats.org/officeDocument/2006/relationships/image"/><Relationship Id="rId5" Target="../media/image34.svg" Type="http://schemas.openxmlformats.org/officeDocument/2006/relationships/image"/><Relationship Id="rId6" Target="../media/image35.png" Type="http://schemas.openxmlformats.org/officeDocument/2006/relationships/image"/><Relationship Id="rId7" Target="../media/image36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7.png" Type="http://schemas.openxmlformats.org/officeDocument/2006/relationships/image"/><Relationship Id="rId3" Target="../media/image38.svg" Type="http://schemas.openxmlformats.org/officeDocument/2006/relationships/image"/><Relationship Id="rId4" Target="../media/image39.png" Type="http://schemas.openxmlformats.org/officeDocument/2006/relationships/image"/><Relationship Id="rId5" Target="../media/image40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5284FF">
                <a:alpha val="100000"/>
              </a:srgbClr>
            </a:gs>
            <a:gs pos="100000">
              <a:srgbClr val="000422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965300" y="-84714"/>
            <a:ext cx="10371714" cy="10371714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9FCDFF">
                    <a:alpha val="0"/>
                  </a:srgbClr>
                </a:gs>
                <a:gs pos="100000">
                  <a:srgbClr val="3964CD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0012283" y="334528"/>
            <a:ext cx="6372983" cy="8896297"/>
          </a:xfrm>
          <a:custGeom>
            <a:avLst/>
            <a:gdLst/>
            <a:ahLst/>
            <a:cxnLst/>
            <a:rect r="r" b="b" t="t" l="l"/>
            <a:pathLst>
              <a:path h="8896297" w="6372983">
                <a:moveTo>
                  <a:pt x="0" y="0"/>
                </a:moveTo>
                <a:lnTo>
                  <a:pt x="6372983" y="0"/>
                </a:lnTo>
                <a:lnTo>
                  <a:pt x="6372983" y="8896297"/>
                </a:lnTo>
                <a:lnTo>
                  <a:pt x="0" y="88962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10407285">
            <a:off x="-5710435" y="-188170"/>
            <a:ext cx="10371714" cy="10371714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9FCDFF">
                    <a:alpha val="0"/>
                  </a:srgbClr>
                </a:gs>
                <a:gs pos="100000">
                  <a:srgbClr val="3964CD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6940833" y="4782676"/>
            <a:ext cx="636934" cy="636934"/>
          </a:xfrm>
          <a:custGeom>
            <a:avLst/>
            <a:gdLst/>
            <a:ahLst/>
            <a:cxnLst/>
            <a:rect r="r" b="b" t="t" l="l"/>
            <a:pathLst>
              <a:path h="636934" w="636934">
                <a:moveTo>
                  <a:pt x="0" y="0"/>
                </a:moveTo>
                <a:lnTo>
                  <a:pt x="636934" y="0"/>
                </a:lnTo>
                <a:lnTo>
                  <a:pt x="636934" y="636934"/>
                </a:lnTo>
                <a:lnTo>
                  <a:pt x="0" y="63693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4908798" y="3938321"/>
            <a:ext cx="809036" cy="809036"/>
          </a:xfrm>
          <a:custGeom>
            <a:avLst/>
            <a:gdLst/>
            <a:ahLst/>
            <a:cxnLst/>
            <a:rect r="r" b="b" t="t" l="l"/>
            <a:pathLst>
              <a:path h="809036" w="809036">
                <a:moveTo>
                  <a:pt x="0" y="0"/>
                </a:moveTo>
                <a:lnTo>
                  <a:pt x="809036" y="0"/>
                </a:lnTo>
                <a:lnTo>
                  <a:pt x="809036" y="809036"/>
                </a:lnTo>
                <a:lnTo>
                  <a:pt x="0" y="80903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344777" y="1226282"/>
            <a:ext cx="7799223" cy="3521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b="true" sz="5000" spc="-230">
                <a:solidFill>
                  <a:srgbClr val="EBF5FE"/>
                </a:solidFill>
                <a:latin typeface="Garet Bold"/>
                <a:ea typeface="Garet Bold"/>
                <a:cs typeface="Garet Bold"/>
                <a:sym typeface="Garet Bold"/>
              </a:rPr>
              <a:t>INTELLIGENT D</a:t>
            </a:r>
            <a:r>
              <a:rPr lang="en-US" b="true" sz="5000" spc="-230">
                <a:solidFill>
                  <a:srgbClr val="EBF5FE"/>
                </a:solidFill>
                <a:latin typeface="Garet Bold"/>
                <a:ea typeface="Garet Bold"/>
                <a:cs typeface="Garet Bold"/>
                <a:sym typeface="Garet Bold"/>
              </a:rPr>
              <a:t>OCUMENT SEARCH AND </a:t>
            </a:r>
          </a:p>
          <a:p>
            <a:pPr algn="l">
              <a:lnSpc>
                <a:spcPts val="7000"/>
              </a:lnSpc>
              <a:spcBef>
                <a:spcPct val="0"/>
              </a:spcBef>
            </a:pPr>
            <a:r>
              <a:rPr lang="en-US" b="true" sz="5000" spc="-230">
                <a:solidFill>
                  <a:srgbClr val="EBF5FE"/>
                </a:solidFill>
                <a:latin typeface="Garet Bold"/>
                <a:ea typeface="Garet Bold"/>
                <a:cs typeface="Garet Bold"/>
                <a:sym typeface="Garet Bold"/>
              </a:rPr>
              <a:t>QUESTION ANSWERING USING RAG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344777" y="5362460"/>
            <a:ext cx="8120680" cy="3599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0"/>
              </a:lnSpc>
            </a:pPr>
            <a:r>
              <a:rPr lang="en-US" sz="2300" spc="-105">
                <a:solidFill>
                  <a:srgbClr val="EBF5FE"/>
                </a:solidFill>
                <a:latin typeface="Poppins"/>
                <a:ea typeface="Poppins"/>
                <a:cs typeface="Poppins"/>
                <a:sym typeface="Poppins"/>
              </a:rPr>
              <a:t>ASK QUESTIONS. R</a:t>
            </a:r>
            <a:r>
              <a:rPr lang="en-US" sz="2300" spc="-105">
                <a:solidFill>
                  <a:srgbClr val="EBF5FE"/>
                </a:solidFill>
                <a:latin typeface="Poppins"/>
                <a:ea typeface="Poppins"/>
                <a:cs typeface="Poppins"/>
                <a:sym typeface="Poppins"/>
              </a:rPr>
              <a:t>ETRIEVE KNOWLEDGE. GET GROUNDED ANSWERS.</a:t>
            </a:r>
          </a:p>
          <a:p>
            <a:pPr algn="l">
              <a:lnSpc>
                <a:spcPts val="3220"/>
              </a:lnSpc>
            </a:pPr>
          </a:p>
          <a:p>
            <a:pPr algn="l">
              <a:lnSpc>
                <a:spcPts val="3220"/>
              </a:lnSpc>
            </a:pPr>
            <a:r>
              <a:rPr lang="en-US" sz="2300" spc="-105">
                <a:solidFill>
                  <a:srgbClr val="EBF5FE"/>
                </a:solidFill>
                <a:latin typeface="Poppins"/>
                <a:ea typeface="Poppins"/>
                <a:cs typeface="Poppins"/>
                <a:sym typeface="Poppins"/>
              </a:rPr>
              <a:t>TECHNOLOGY STACK: PYTHON | STREAMLIT | LANGCHAIN | LANGGRAPH | FAISS | HUGGING FACE EMBEDDINGS | OLLAMA</a:t>
            </a:r>
          </a:p>
          <a:p>
            <a:pPr algn="l">
              <a:lnSpc>
                <a:spcPts val="3220"/>
              </a:lnSpc>
            </a:pPr>
          </a:p>
          <a:p>
            <a:pPr algn="l">
              <a:lnSpc>
                <a:spcPts val="3220"/>
              </a:lnSpc>
            </a:pPr>
            <a:r>
              <a:rPr lang="en-US" sz="2300" spc="-105">
                <a:solidFill>
                  <a:srgbClr val="EBF5FE"/>
                </a:solidFill>
                <a:latin typeface="Poppins"/>
                <a:ea typeface="Poppins"/>
                <a:cs typeface="Poppins"/>
                <a:sym typeface="Poppins"/>
              </a:rPr>
              <a:t>PROJECT CATEGORY: GENERATIVE AI | RETRIEVAL-AUGMENTED GENERATION | INTELLIGENT DOCUMENT PROCESSING</a:t>
            </a:r>
          </a:p>
          <a:p>
            <a:pPr algn="l">
              <a:lnSpc>
                <a:spcPts val="322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5284FF">
                <a:alpha val="100000"/>
              </a:srgbClr>
            </a:gs>
            <a:gs pos="100000">
              <a:srgbClr val="000422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784291" y="901942"/>
            <a:ext cx="475009" cy="475009"/>
          </a:xfrm>
          <a:custGeom>
            <a:avLst/>
            <a:gdLst/>
            <a:ahLst/>
            <a:cxnLst/>
            <a:rect r="r" b="b" t="t" l="l"/>
            <a:pathLst>
              <a:path h="475009" w="475009">
                <a:moveTo>
                  <a:pt x="0" y="0"/>
                </a:moveTo>
                <a:lnTo>
                  <a:pt x="475009" y="0"/>
                </a:lnTo>
                <a:lnTo>
                  <a:pt x="475009" y="475009"/>
                </a:lnTo>
                <a:lnTo>
                  <a:pt x="0" y="4750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104900" y="2621180"/>
            <a:ext cx="4017831" cy="701294"/>
          </a:xfrm>
          <a:custGeom>
            <a:avLst/>
            <a:gdLst/>
            <a:ahLst/>
            <a:cxnLst/>
            <a:rect r="r" b="b" t="t" l="l"/>
            <a:pathLst>
              <a:path h="701294" w="4017831">
                <a:moveTo>
                  <a:pt x="0" y="0"/>
                </a:moveTo>
                <a:lnTo>
                  <a:pt x="4017831" y="0"/>
                </a:lnTo>
                <a:lnTo>
                  <a:pt x="4017831" y="701294"/>
                </a:lnTo>
                <a:lnTo>
                  <a:pt x="0" y="70129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48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250385" y="7709520"/>
            <a:ext cx="4017831" cy="701294"/>
          </a:xfrm>
          <a:custGeom>
            <a:avLst/>
            <a:gdLst/>
            <a:ahLst/>
            <a:cxnLst/>
            <a:rect r="r" b="b" t="t" l="l"/>
            <a:pathLst>
              <a:path h="701294" w="4017831">
                <a:moveTo>
                  <a:pt x="0" y="0"/>
                </a:moveTo>
                <a:lnTo>
                  <a:pt x="4017830" y="0"/>
                </a:lnTo>
                <a:lnTo>
                  <a:pt x="4017830" y="701294"/>
                </a:lnTo>
                <a:lnTo>
                  <a:pt x="0" y="70129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4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219233" y="1856673"/>
            <a:ext cx="4444454" cy="2230308"/>
          </a:xfrm>
          <a:custGeom>
            <a:avLst/>
            <a:gdLst/>
            <a:ahLst/>
            <a:cxnLst/>
            <a:rect r="r" b="b" t="t" l="l"/>
            <a:pathLst>
              <a:path h="2230308" w="4444454">
                <a:moveTo>
                  <a:pt x="0" y="0"/>
                </a:moveTo>
                <a:lnTo>
                  <a:pt x="4444454" y="0"/>
                </a:lnTo>
                <a:lnTo>
                  <a:pt x="4444454" y="2230308"/>
                </a:lnTo>
                <a:lnTo>
                  <a:pt x="0" y="223030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752944" y="1751898"/>
            <a:ext cx="13688516" cy="1002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260"/>
              </a:lnSpc>
              <a:spcBef>
                <a:spcPct val="0"/>
              </a:spcBef>
            </a:pPr>
            <a:r>
              <a:rPr lang="en-US" b="true" sz="5900" spc="-271">
                <a:solidFill>
                  <a:srgbClr val="EBF5FE"/>
                </a:solidFill>
                <a:latin typeface="Garet Bold"/>
                <a:ea typeface="Garet Bold"/>
                <a:cs typeface="Garet Bold"/>
                <a:sym typeface="Garet Bold"/>
              </a:rPr>
              <a:t>BUSIN</a:t>
            </a:r>
            <a:r>
              <a:rPr lang="en-US" b="true" sz="5900" spc="-271">
                <a:solidFill>
                  <a:srgbClr val="EBF5FE"/>
                </a:solidFill>
                <a:latin typeface="Garet Bold"/>
                <a:ea typeface="Garet Bold"/>
                <a:cs typeface="Garet Bold"/>
                <a:sym typeface="Garet Bold"/>
              </a:rPr>
              <a:t>ESS PROBLEM &amp; OBJECTIVE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355670" y="5077631"/>
            <a:ext cx="6522940" cy="3946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 spc="-114">
                <a:solidFill>
                  <a:srgbClr val="EBF5FE"/>
                </a:solidFill>
                <a:latin typeface="Poppins"/>
                <a:ea typeface="Poppins"/>
                <a:cs typeface="Poppins"/>
                <a:sym typeface="Poppins"/>
              </a:rPr>
              <a:t>Business knowledge is often distributed across lengthy documents.</a:t>
            </a:r>
          </a:p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 spc="-114">
                <a:solidFill>
                  <a:srgbClr val="EBF5FE"/>
                </a:solidFill>
                <a:latin typeface="Poppins"/>
                <a:ea typeface="Poppins"/>
                <a:cs typeface="Poppins"/>
                <a:sym typeface="Poppins"/>
              </a:rPr>
              <a:t>Finding specific information manually consumes time.</a:t>
            </a:r>
          </a:p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 spc="-114">
                <a:solidFill>
                  <a:srgbClr val="EBF5FE"/>
                </a:solidFill>
                <a:latin typeface="Poppins"/>
                <a:ea typeface="Poppins"/>
                <a:cs typeface="Poppins"/>
                <a:sym typeface="Poppins"/>
              </a:rPr>
              <a:t>Traditional keyword search may miss contextually relevant information.</a:t>
            </a:r>
          </a:p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 spc="-114">
                <a:solidFill>
                  <a:srgbClr val="EBF5FE"/>
                </a:solidFill>
                <a:latin typeface="Poppins"/>
                <a:ea typeface="Poppins"/>
                <a:cs typeface="Poppins"/>
                <a:sym typeface="Poppins"/>
              </a:rPr>
              <a:t>Repeated questions create unnecessary effort for employees and support teams.</a:t>
            </a:r>
          </a:p>
          <a:p>
            <a:pPr algn="just">
              <a:lnSpc>
                <a:spcPts val="3499"/>
              </a:lnSpc>
              <a:spcBef>
                <a:spcPct val="0"/>
              </a:spcBef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9918520" y="5076825"/>
            <a:ext cx="6522940" cy="3946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 spc="-114">
                <a:solidFill>
                  <a:srgbClr val="EBF5FE"/>
                </a:solidFill>
                <a:latin typeface="Poppins"/>
                <a:ea typeface="Poppins"/>
                <a:cs typeface="Poppins"/>
                <a:sym typeface="Poppins"/>
              </a:rPr>
              <a:t>Build an AI-powered assis</a:t>
            </a:r>
            <a:r>
              <a:rPr lang="en-US" sz="2499" spc="-114">
                <a:solidFill>
                  <a:srgbClr val="EBF5FE"/>
                </a:solidFill>
                <a:latin typeface="Poppins"/>
                <a:ea typeface="Poppins"/>
                <a:cs typeface="Poppins"/>
                <a:sym typeface="Poppins"/>
              </a:rPr>
              <a:t>tant that retrieves relevant information from uploaded documents and generates context-aware answers in natural language.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 spc="-114">
                <a:solidFill>
                  <a:srgbClr val="EBF5FE"/>
                </a:solidFill>
                <a:latin typeface="Poppins"/>
                <a:ea typeface="Poppins"/>
                <a:cs typeface="Poppins"/>
                <a:sym typeface="Poppins"/>
              </a:rPr>
              <a:t>Bus</a:t>
            </a:r>
            <a:r>
              <a:rPr lang="en-US" sz="2499" spc="-114">
                <a:solidFill>
                  <a:srgbClr val="EBF5FE"/>
                </a:solidFill>
                <a:latin typeface="Poppins"/>
                <a:ea typeface="Poppins"/>
                <a:cs typeface="Poppins"/>
                <a:sym typeface="Poppins"/>
              </a:rPr>
              <a:t>iness value: Simplify information access and reduce manual document searching.</a:t>
            </a:r>
          </a:p>
          <a:p>
            <a:pPr algn="just">
              <a:lnSpc>
                <a:spcPts val="3499"/>
              </a:lnSpc>
              <a:spcBef>
                <a:spcPct val="0"/>
              </a:spcBef>
            </a:pPr>
          </a:p>
        </p:txBody>
      </p:sp>
      <p:sp>
        <p:nvSpPr>
          <p:cNvPr name="Freeform 9" id="9"/>
          <p:cNvSpPr/>
          <p:nvPr/>
        </p:nvSpPr>
        <p:spPr>
          <a:xfrm flipH="true" flipV="false" rot="0">
            <a:off x="-495207" y="1856673"/>
            <a:ext cx="4444454" cy="2230308"/>
          </a:xfrm>
          <a:custGeom>
            <a:avLst/>
            <a:gdLst/>
            <a:ahLst/>
            <a:cxnLst/>
            <a:rect r="r" b="b" t="t" l="l"/>
            <a:pathLst>
              <a:path h="2230308" w="4444454">
                <a:moveTo>
                  <a:pt x="4444454" y="0"/>
                </a:moveTo>
                <a:lnTo>
                  <a:pt x="0" y="0"/>
                </a:lnTo>
                <a:lnTo>
                  <a:pt x="0" y="2230308"/>
                </a:lnTo>
                <a:lnTo>
                  <a:pt x="4444454" y="2230308"/>
                </a:lnTo>
                <a:lnTo>
                  <a:pt x="4444454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2534210" y="8863664"/>
            <a:ext cx="3303490" cy="292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87"/>
              </a:lnSpc>
              <a:spcBef>
                <a:spcPct val="0"/>
              </a:spcBef>
            </a:pPr>
            <a:r>
              <a:rPr lang="en-US" b="true" sz="1777" spc="-81">
                <a:solidFill>
                  <a:srgbClr val="3C67BF"/>
                </a:solidFill>
                <a:latin typeface="Garet Bold"/>
                <a:ea typeface="Garet Bold"/>
                <a:cs typeface="Garet Bold"/>
                <a:sym typeface="Garet Bold"/>
              </a:rPr>
              <a:t>www.reallygreatisite.com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141890" y="4039356"/>
            <a:ext cx="6522940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b="true" sz="2499" spc="-114">
                <a:solidFill>
                  <a:srgbClr val="EBF5FE"/>
                </a:solidFill>
                <a:latin typeface="Garet Bold"/>
                <a:ea typeface="Garet Bold"/>
                <a:cs typeface="Garet Bold"/>
                <a:sym typeface="Garet Bold"/>
              </a:rPr>
              <a:t>Project Objective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576230" y="4226681"/>
            <a:ext cx="6522940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b="true" sz="2499" spc="-114">
                <a:solidFill>
                  <a:srgbClr val="EBF5FE"/>
                </a:solidFill>
                <a:latin typeface="Garet Bold"/>
                <a:ea typeface="Garet Bold"/>
                <a:cs typeface="Garet Bold"/>
                <a:sym typeface="Garet Bold"/>
              </a:rPr>
              <a:t>Business Problem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5284FF">
                <a:alpha val="100000"/>
              </a:srgbClr>
            </a:gs>
            <a:gs pos="100000">
              <a:srgbClr val="000422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000785" y="1272888"/>
            <a:ext cx="7039565" cy="8983203"/>
          </a:xfrm>
          <a:custGeom>
            <a:avLst/>
            <a:gdLst/>
            <a:ahLst/>
            <a:cxnLst/>
            <a:rect r="r" b="b" t="t" l="l"/>
            <a:pathLst>
              <a:path h="8983203" w="7039565">
                <a:moveTo>
                  <a:pt x="0" y="0"/>
                </a:moveTo>
                <a:lnTo>
                  <a:pt x="7039565" y="0"/>
                </a:lnTo>
                <a:lnTo>
                  <a:pt x="7039565" y="8983203"/>
                </a:lnTo>
                <a:lnTo>
                  <a:pt x="0" y="898320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784291" y="901942"/>
            <a:ext cx="475009" cy="475009"/>
          </a:xfrm>
          <a:custGeom>
            <a:avLst/>
            <a:gdLst/>
            <a:ahLst/>
            <a:cxnLst/>
            <a:rect r="r" b="b" t="t" l="l"/>
            <a:pathLst>
              <a:path h="475009" w="475009">
                <a:moveTo>
                  <a:pt x="0" y="0"/>
                </a:moveTo>
                <a:lnTo>
                  <a:pt x="475009" y="0"/>
                </a:lnTo>
                <a:lnTo>
                  <a:pt x="475009" y="475009"/>
                </a:lnTo>
                <a:lnTo>
                  <a:pt x="0" y="47500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1104900" y="2621180"/>
            <a:ext cx="4017831" cy="701294"/>
          </a:xfrm>
          <a:custGeom>
            <a:avLst/>
            <a:gdLst/>
            <a:ahLst/>
            <a:cxnLst/>
            <a:rect r="r" b="b" t="t" l="l"/>
            <a:pathLst>
              <a:path h="701294" w="4017831">
                <a:moveTo>
                  <a:pt x="0" y="0"/>
                </a:moveTo>
                <a:lnTo>
                  <a:pt x="4017831" y="0"/>
                </a:lnTo>
                <a:lnTo>
                  <a:pt x="4017831" y="701294"/>
                </a:lnTo>
                <a:lnTo>
                  <a:pt x="0" y="70129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48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323340" y="4235506"/>
            <a:ext cx="3434020" cy="1798178"/>
          </a:xfrm>
          <a:custGeom>
            <a:avLst/>
            <a:gdLst/>
            <a:ahLst/>
            <a:cxnLst/>
            <a:rect r="r" b="b" t="t" l="l"/>
            <a:pathLst>
              <a:path h="1798178" w="3434020">
                <a:moveTo>
                  <a:pt x="0" y="0"/>
                </a:moveTo>
                <a:lnTo>
                  <a:pt x="3434020" y="0"/>
                </a:lnTo>
                <a:lnTo>
                  <a:pt x="3434020" y="1798178"/>
                </a:lnTo>
                <a:lnTo>
                  <a:pt x="0" y="179817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303957" y="696957"/>
            <a:ext cx="7980283" cy="1002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259"/>
              </a:lnSpc>
              <a:spcBef>
                <a:spcPct val="0"/>
              </a:spcBef>
            </a:pPr>
            <a:r>
              <a:rPr lang="en-US" b="true" sz="5899" spc="-271">
                <a:solidFill>
                  <a:srgbClr val="EBF5FE"/>
                </a:solidFill>
                <a:latin typeface="Garet Bold"/>
                <a:ea typeface="Garet Bold"/>
                <a:cs typeface="Garet Bold"/>
                <a:sym typeface="Garet Bold"/>
              </a:rPr>
              <a:t>PROPOSED SOLUTION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1979940" y="1028700"/>
            <a:ext cx="3434020" cy="1798178"/>
          </a:xfrm>
          <a:custGeom>
            <a:avLst/>
            <a:gdLst/>
            <a:ahLst/>
            <a:cxnLst/>
            <a:rect r="r" b="b" t="t" l="l"/>
            <a:pathLst>
              <a:path h="1798178" w="3434020">
                <a:moveTo>
                  <a:pt x="0" y="0"/>
                </a:moveTo>
                <a:lnTo>
                  <a:pt x="3434020" y="0"/>
                </a:lnTo>
                <a:lnTo>
                  <a:pt x="3434020" y="1798178"/>
                </a:lnTo>
                <a:lnTo>
                  <a:pt x="0" y="179817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303957" y="2074459"/>
            <a:ext cx="9545474" cy="7432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9"/>
              </a:lnSpc>
            </a:pPr>
            <a:r>
              <a:rPr lang="en-US" b="true" sz="2499" spc="-114">
                <a:solidFill>
                  <a:srgbClr val="EBF5FE"/>
                </a:solidFill>
                <a:latin typeface="Garet Bold"/>
                <a:ea typeface="Garet Bold"/>
                <a:cs typeface="Garet Bold"/>
                <a:sym typeface="Garet Bold"/>
              </a:rPr>
              <a:t>Enterprise AI Knowledge Assistant</a:t>
            </a:r>
          </a:p>
          <a:p>
            <a:pPr algn="just">
              <a:lnSpc>
                <a:spcPts val="3499"/>
              </a:lnSpc>
            </a:pPr>
            <a:r>
              <a:rPr lang="en-US" sz="2499" spc="-114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The application allows users to upload PDF documents and ask questions in natural language.</a:t>
            </a:r>
          </a:p>
          <a:p>
            <a:pPr algn="just">
              <a:lnSpc>
                <a:spcPts val="3499"/>
              </a:lnSpc>
            </a:pPr>
          </a:p>
          <a:p>
            <a:pPr algn="just">
              <a:lnSpc>
                <a:spcPts val="3499"/>
              </a:lnSpc>
            </a:pPr>
            <a:r>
              <a:rPr lang="en-US" sz="2499" spc="-114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How it works:</a:t>
            </a:r>
          </a:p>
          <a:p>
            <a:pPr algn="just" marL="539749" indent="-269875" lvl="1">
              <a:lnSpc>
                <a:spcPts val="3499"/>
              </a:lnSpc>
              <a:buAutoNum type="arabicPeriod" startAt="1"/>
            </a:pPr>
            <a:r>
              <a:rPr lang="en-US" sz="2499" spc="-114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Upload a PDF document.</a:t>
            </a:r>
          </a:p>
          <a:p>
            <a:pPr algn="just" marL="539749" indent="-269875" lvl="1">
              <a:lnSpc>
                <a:spcPts val="3499"/>
              </a:lnSpc>
              <a:buAutoNum type="arabicPeriod" startAt="1"/>
            </a:pPr>
            <a:r>
              <a:rPr lang="en-US" sz="2499" spc="-114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Extract and split the document into smaller chunks.</a:t>
            </a:r>
          </a:p>
          <a:p>
            <a:pPr algn="just" marL="539749" indent="-269875" lvl="1">
              <a:lnSpc>
                <a:spcPts val="3499"/>
              </a:lnSpc>
              <a:buAutoNum type="arabicPeriod" startAt="1"/>
            </a:pPr>
            <a:r>
              <a:rPr lang="en-US" sz="2499" spc="-114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Convert chunks into embeddings.</a:t>
            </a:r>
          </a:p>
          <a:p>
            <a:pPr algn="just" marL="539749" indent="-269875" lvl="1">
              <a:lnSpc>
                <a:spcPts val="3499"/>
              </a:lnSpc>
              <a:buAutoNum type="arabicPeriod" startAt="1"/>
            </a:pPr>
            <a:r>
              <a:rPr lang="en-US" sz="2499" spc="-114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Store embeddings in a FAISS vector index.</a:t>
            </a:r>
          </a:p>
          <a:p>
            <a:pPr algn="just" marL="539749" indent="-269875" lvl="1">
              <a:lnSpc>
                <a:spcPts val="3499"/>
              </a:lnSpc>
              <a:buAutoNum type="arabicPeriod" startAt="1"/>
            </a:pPr>
            <a:r>
              <a:rPr lang="en-US" sz="2499" spc="-114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Retrieve relevant chunks for a user's question.</a:t>
            </a:r>
          </a:p>
          <a:p>
            <a:pPr algn="just" marL="539749" indent="-269875" lvl="1">
              <a:lnSpc>
                <a:spcPts val="3499"/>
              </a:lnSpc>
              <a:buAutoNum type="arabicPeriod" startAt="1"/>
            </a:pPr>
            <a:r>
              <a:rPr lang="en-US" sz="2499" spc="-114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Evaluate retrieved content and generate an answer using an LLM.</a:t>
            </a:r>
          </a:p>
          <a:p>
            <a:pPr algn="just">
              <a:lnSpc>
                <a:spcPts val="3499"/>
              </a:lnSpc>
            </a:pPr>
          </a:p>
          <a:p>
            <a:pPr algn="just">
              <a:lnSpc>
                <a:spcPts val="3499"/>
              </a:lnSpc>
            </a:pPr>
            <a:r>
              <a:rPr lang="en-US" sz="2499" spc="-114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Outcome: Answers are generated using retrieved document context rather than relying solely on the LLM's general knowledge.</a:t>
            </a:r>
          </a:p>
          <a:p>
            <a:pPr algn="just">
              <a:lnSpc>
                <a:spcPts val="349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5284FF">
                <a:alpha val="100000"/>
              </a:srgbClr>
            </a:gs>
            <a:gs pos="100000">
              <a:srgbClr val="000422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10517729">
            <a:off x="-2903692" y="-84714"/>
            <a:ext cx="10371714" cy="10371714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9FCDFF">
                    <a:alpha val="0"/>
                  </a:srgbClr>
                </a:gs>
                <a:gs pos="100000">
                  <a:srgbClr val="3964CD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6784291" y="901942"/>
            <a:ext cx="475009" cy="475009"/>
          </a:xfrm>
          <a:custGeom>
            <a:avLst/>
            <a:gdLst/>
            <a:ahLst/>
            <a:cxnLst/>
            <a:rect r="r" b="b" t="t" l="l"/>
            <a:pathLst>
              <a:path h="475009" w="475009">
                <a:moveTo>
                  <a:pt x="0" y="0"/>
                </a:moveTo>
                <a:lnTo>
                  <a:pt x="475009" y="0"/>
                </a:lnTo>
                <a:lnTo>
                  <a:pt x="475009" y="475009"/>
                </a:lnTo>
                <a:lnTo>
                  <a:pt x="0" y="4750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245651" y="1688186"/>
            <a:ext cx="5428186" cy="6825913"/>
            <a:chOff x="0" y="0"/>
            <a:chExt cx="7237582" cy="910121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990256" cy="9101218"/>
            </a:xfrm>
            <a:custGeom>
              <a:avLst/>
              <a:gdLst/>
              <a:ahLst/>
              <a:cxnLst/>
              <a:rect r="r" b="b" t="t" l="l"/>
              <a:pathLst>
                <a:path h="9101218" w="5990256">
                  <a:moveTo>
                    <a:pt x="0" y="0"/>
                  </a:moveTo>
                  <a:lnTo>
                    <a:pt x="5990256" y="0"/>
                  </a:lnTo>
                  <a:lnTo>
                    <a:pt x="5990256" y="9101218"/>
                  </a:lnTo>
                  <a:lnTo>
                    <a:pt x="0" y="91012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2349698" y="2544466"/>
              <a:ext cx="4887884" cy="5486400"/>
            </a:xfrm>
            <a:custGeom>
              <a:avLst/>
              <a:gdLst/>
              <a:ahLst/>
              <a:cxnLst/>
              <a:rect r="r" b="b" t="t" l="l"/>
              <a:pathLst>
                <a:path h="5486400" w="4887884">
                  <a:moveTo>
                    <a:pt x="0" y="0"/>
                  </a:moveTo>
                  <a:lnTo>
                    <a:pt x="4887884" y="0"/>
                  </a:lnTo>
                  <a:lnTo>
                    <a:pt x="4887884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7875878" y="655259"/>
            <a:ext cx="11621270" cy="863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00"/>
              </a:lnSpc>
              <a:spcBef>
                <a:spcPct val="0"/>
              </a:spcBef>
            </a:pPr>
            <a:r>
              <a:rPr lang="en-US" b="true" sz="5000" spc="-230">
                <a:solidFill>
                  <a:srgbClr val="EBF5FE"/>
                </a:solidFill>
                <a:latin typeface="Garet Bold"/>
                <a:ea typeface="Garet Bold"/>
                <a:cs typeface="Garet Bold"/>
                <a:sym typeface="Garet Bold"/>
              </a:rPr>
              <a:t>SOLUTION ARCHITECTURE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875878" y="2164483"/>
            <a:ext cx="9723606" cy="7870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9"/>
              </a:lnSpc>
            </a:pPr>
            <a:r>
              <a:rPr lang="en-US" b="true" sz="2499" spc="-114">
                <a:solidFill>
                  <a:srgbClr val="EBF5FE"/>
                </a:solidFill>
                <a:latin typeface="Garet Bold"/>
                <a:ea typeface="Garet Bold"/>
                <a:cs typeface="Garet Bold"/>
                <a:sym typeface="Garet Bold"/>
              </a:rPr>
              <a:t>End-to-End Architecture</a:t>
            </a:r>
          </a:p>
          <a:p>
            <a:pPr algn="just">
              <a:lnSpc>
                <a:spcPts val="3499"/>
              </a:lnSpc>
            </a:pPr>
          </a:p>
          <a:p>
            <a:pPr algn="just">
              <a:lnSpc>
                <a:spcPts val="3499"/>
              </a:lnSpc>
            </a:pPr>
            <a:r>
              <a:rPr lang="en-US" sz="2499" spc="-114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User → Streamlit UI → Document Processing → Embeddings → FAISS Vector Store → Retrieval → LangGraph Workflow → Ollama LLM → Answer</a:t>
            </a:r>
          </a:p>
          <a:p>
            <a:pPr algn="just">
              <a:lnSpc>
                <a:spcPts val="3499"/>
              </a:lnSpc>
            </a:pPr>
          </a:p>
          <a:p>
            <a:pPr algn="just">
              <a:lnSpc>
                <a:spcPts val="3499"/>
              </a:lnSpc>
            </a:pPr>
            <a:r>
              <a:rPr lang="en-US" b="true" sz="2499" spc="-114">
                <a:solidFill>
                  <a:srgbClr val="EBF5FE"/>
                </a:solidFill>
                <a:latin typeface="Garet Bold"/>
                <a:ea typeface="Garet Bold"/>
                <a:cs typeface="Garet Bold"/>
                <a:sym typeface="Garet Bold"/>
              </a:rPr>
              <a:t>Component responsibilities:</a:t>
            </a:r>
          </a:p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 spc="-114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Streamlit: User interface for uploading documents and asking questions.</a:t>
            </a:r>
          </a:p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 spc="-114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LangChain: Document loading, text splitting, and retrieval components.</a:t>
            </a:r>
          </a:p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 spc="-114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Hugging Face Embeddings: Convert text into numerical representations.</a:t>
            </a:r>
          </a:p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 spc="-114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FAISS: Search for semantically similar document chunks.</a:t>
            </a:r>
          </a:p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 spc="-114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LangGraph: Organize retrieval, relevance evaluation, and answer-generation steps.</a:t>
            </a:r>
          </a:p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 spc="-114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Ollama: Run the selected language model locally.</a:t>
            </a:r>
          </a:p>
          <a:p>
            <a:pPr algn="just">
              <a:lnSpc>
                <a:spcPts val="349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5284FF">
                <a:alpha val="100000"/>
              </a:srgbClr>
            </a:gs>
            <a:gs pos="100000">
              <a:srgbClr val="000422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784291" y="664438"/>
            <a:ext cx="475009" cy="475009"/>
          </a:xfrm>
          <a:custGeom>
            <a:avLst/>
            <a:gdLst/>
            <a:ahLst/>
            <a:cxnLst/>
            <a:rect r="r" b="b" t="t" l="l"/>
            <a:pathLst>
              <a:path h="475009" w="475009">
                <a:moveTo>
                  <a:pt x="0" y="0"/>
                </a:moveTo>
                <a:lnTo>
                  <a:pt x="475009" y="0"/>
                </a:lnTo>
                <a:lnTo>
                  <a:pt x="475009" y="475008"/>
                </a:lnTo>
                <a:lnTo>
                  <a:pt x="0" y="4750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104900" y="2621180"/>
            <a:ext cx="4017831" cy="701294"/>
          </a:xfrm>
          <a:custGeom>
            <a:avLst/>
            <a:gdLst/>
            <a:ahLst/>
            <a:cxnLst/>
            <a:rect r="r" b="b" t="t" l="l"/>
            <a:pathLst>
              <a:path h="701294" w="4017831">
                <a:moveTo>
                  <a:pt x="0" y="0"/>
                </a:moveTo>
                <a:lnTo>
                  <a:pt x="4017831" y="0"/>
                </a:lnTo>
                <a:lnTo>
                  <a:pt x="4017831" y="701294"/>
                </a:lnTo>
                <a:lnTo>
                  <a:pt x="0" y="70129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48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705788" y="304624"/>
            <a:ext cx="7241718" cy="10708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703"/>
              </a:lnSpc>
              <a:spcBef>
                <a:spcPct val="0"/>
              </a:spcBef>
            </a:pPr>
            <a:r>
              <a:rPr lang="en-US" b="true" sz="6217" spc="-285">
                <a:solidFill>
                  <a:srgbClr val="EBF5FE"/>
                </a:solidFill>
                <a:latin typeface="Garet Bold"/>
                <a:ea typeface="Garet Bold"/>
                <a:cs typeface="Garet Bold"/>
                <a:sym typeface="Garet Bold"/>
              </a:rPr>
              <a:t>RAG WORKFLOW</a:t>
            </a:r>
          </a:p>
        </p:txBody>
      </p:sp>
      <p:sp>
        <p:nvSpPr>
          <p:cNvPr name="Freeform 5" id="5"/>
          <p:cNvSpPr/>
          <p:nvPr/>
        </p:nvSpPr>
        <p:spPr>
          <a:xfrm flipH="true" flipV="false" rot="0">
            <a:off x="-689433" y="3445320"/>
            <a:ext cx="5537286" cy="6164995"/>
          </a:xfrm>
          <a:custGeom>
            <a:avLst/>
            <a:gdLst/>
            <a:ahLst/>
            <a:cxnLst/>
            <a:rect r="r" b="b" t="t" l="l"/>
            <a:pathLst>
              <a:path h="6164995" w="5537286">
                <a:moveTo>
                  <a:pt x="5537286" y="0"/>
                </a:moveTo>
                <a:lnTo>
                  <a:pt x="0" y="0"/>
                </a:lnTo>
                <a:lnTo>
                  <a:pt x="0" y="6164994"/>
                </a:lnTo>
                <a:lnTo>
                  <a:pt x="5537286" y="6164994"/>
                </a:lnTo>
                <a:lnTo>
                  <a:pt x="5537286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4847853" y="1091821"/>
            <a:ext cx="12708713" cy="9623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9"/>
              </a:lnSpc>
            </a:pPr>
          </a:p>
          <a:p>
            <a:pPr algn="just">
              <a:lnSpc>
                <a:spcPts val="3499"/>
              </a:lnSpc>
            </a:pPr>
            <a:r>
              <a:rPr lang="en-US" b="true" sz="2499" spc="-114">
                <a:solidFill>
                  <a:srgbClr val="EBF5FE"/>
                </a:solidFill>
                <a:latin typeface="Garet Bold"/>
                <a:ea typeface="Garet Bold"/>
                <a:cs typeface="Garet Bold"/>
                <a:sym typeface="Garet Bold"/>
              </a:rPr>
              <a:t>1. Ingestion</a:t>
            </a:r>
          </a:p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 spc="-114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Load PDF documents.</a:t>
            </a:r>
          </a:p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 spc="-114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Split text into manageable chunks.</a:t>
            </a:r>
          </a:p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 spc="-114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Generate embeddings and store them in FAISS.</a:t>
            </a:r>
          </a:p>
          <a:p>
            <a:pPr algn="just">
              <a:lnSpc>
                <a:spcPts val="3499"/>
              </a:lnSpc>
            </a:pPr>
          </a:p>
          <a:p>
            <a:pPr algn="just">
              <a:lnSpc>
                <a:spcPts val="3499"/>
              </a:lnSpc>
            </a:pPr>
            <a:r>
              <a:rPr lang="en-US" sz="2499" spc="-114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2. </a:t>
            </a:r>
            <a:r>
              <a:rPr lang="en-US" b="true" sz="2499" spc="-114">
                <a:solidFill>
                  <a:srgbClr val="EBF5FE"/>
                </a:solidFill>
                <a:latin typeface="Garet Bold"/>
                <a:ea typeface="Garet Bold"/>
                <a:cs typeface="Garet Bold"/>
                <a:sym typeface="Garet Bold"/>
              </a:rPr>
              <a:t>Retrieval</a:t>
            </a:r>
          </a:p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 spc="-114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Convert the user's question into an embedding.</a:t>
            </a:r>
          </a:p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 spc="-114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Retrieve the most relevant document chunks.</a:t>
            </a:r>
          </a:p>
          <a:p>
            <a:pPr algn="just">
              <a:lnSpc>
                <a:spcPts val="3499"/>
              </a:lnSpc>
            </a:pPr>
          </a:p>
          <a:p>
            <a:pPr algn="just">
              <a:lnSpc>
                <a:spcPts val="3499"/>
              </a:lnSpc>
            </a:pPr>
            <a:r>
              <a:rPr lang="en-US" sz="2499" spc="-114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3. </a:t>
            </a:r>
            <a:r>
              <a:rPr lang="en-US" b="true" sz="2499" spc="-114">
                <a:solidFill>
                  <a:srgbClr val="EBF5FE"/>
                </a:solidFill>
                <a:latin typeface="Garet Bold"/>
                <a:ea typeface="Garet Bold"/>
                <a:cs typeface="Garet Bold"/>
                <a:sym typeface="Garet Bold"/>
              </a:rPr>
              <a:t>Context Evaluation</a:t>
            </a:r>
          </a:p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 spc="-114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Evaluate whether retrieved content is relevant.</a:t>
            </a:r>
          </a:p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 spc="-114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Refine the context when required by the implemented workflow.</a:t>
            </a:r>
          </a:p>
          <a:p>
            <a:pPr algn="just">
              <a:lnSpc>
                <a:spcPts val="3499"/>
              </a:lnSpc>
            </a:pPr>
          </a:p>
          <a:p>
            <a:pPr algn="just">
              <a:lnSpc>
                <a:spcPts val="3499"/>
              </a:lnSpc>
            </a:pPr>
            <a:r>
              <a:rPr lang="en-US" sz="2499" spc="-114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4. </a:t>
            </a:r>
            <a:r>
              <a:rPr lang="en-US" b="true" sz="2499" spc="-114">
                <a:solidFill>
                  <a:srgbClr val="EBF5FE"/>
                </a:solidFill>
                <a:latin typeface="Garet Bold"/>
                <a:ea typeface="Garet Bold"/>
                <a:cs typeface="Garet Bold"/>
                <a:sym typeface="Garet Bold"/>
              </a:rPr>
              <a:t>Generation</a:t>
            </a:r>
          </a:p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 spc="-114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Pass the question and relevant context to the LLM.</a:t>
            </a:r>
          </a:p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 spc="-114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Generate a natural-language response grounded in the retrieved information.</a:t>
            </a:r>
          </a:p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</a:p>
          <a:p>
            <a:pPr algn="just">
              <a:lnSpc>
                <a:spcPts val="3499"/>
              </a:lnSpc>
            </a:pPr>
            <a:r>
              <a:rPr lang="en-US" sz="2499" spc="-114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Key benefit: Improves access to document-specific knowledge without requiring the LLM to be fine-tuned on every document.</a:t>
            </a:r>
          </a:p>
          <a:p>
            <a:pPr algn="just">
              <a:lnSpc>
                <a:spcPts val="3499"/>
              </a:lnSpc>
            </a:pPr>
          </a:p>
          <a:p>
            <a:pPr algn="just">
              <a:lnSpc>
                <a:spcPts val="3499"/>
              </a:lnSpc>
              <a:spcBef>
                <a:spcPct val="0"/>
              </a:spcBef>
            </a:pP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1747058" y="394476"/>
            <a:ext cx="1174801" cy="980959"/>
          </a:xfrm>
          <a:custGeom>
            <a:avLst/>
            <a:gdLst/>
            <a:ahLst/>
            <a:cxnLst/>
            <a:rect r="r" b="b" t="t" l="l"/>
            <a:pathLst>
              <a:path h="980959" w="1174801">
                <a:moveTo>
                  <a:pt x="0" y="0"/>
                </a:moveTo>
                <a:lnTo>
                  <a:pt x="1174801" y="0"/>
                </a:lnTo>
                <a:lnTo>
                  <a:pt x="1174801" y="980959"/>
                </a:lnTo>
                <a:lnTo>
                  <a:pt x="0" y="98095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5284FF">
                <a:alpha val="100000"/>
              </a:srgbClr>
            </a:gs>
            <a:gs pos="100000">
              <a:srgbClr val="000422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10517729">
            <a:off x="-2903692" y="-84714"/>
            <a:ext cx="10371714" cy="10371714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9FCDFF">
                    <a:alpha val="0"/>
                  </a:srgbClr>
                </a:gs>
                <a:gs pos="100000">
                  <a:srgbClr val="3964CD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6784291" y="901942"/>
            <a:ext cx="475009" cy="475009"/>
          </a:xfrm>
          <a:custGeom>
            <a:avLst/>
            <a:gdLst/>
            <a:ahLst/>
            <a:cxnLst/>
            <a:rect r="r" b="b" t="t" l="l"/>
            <a:pathLst>
              <a:path h="475009" w="475009">
                <a:moveTo>
                  <a:pt x="0" y="0"/>
                </a:moveTo>
                <a:lnTo>
                  <a:pt x="475009" y="0"/>
                </a:lnTo>
                <a:lnTo>
                  <a:pt x="475009" y="475009"/>
                </a:lnTo>
                <a:lnTo>
                  <a:pt x="0" y="4750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2630155" y="1986873"/>
            <a:ext cx="3696124" cy="6313254"/>
          </a:xfrm>
          <a:custGeom>
            <a:avLst/>
            <a:gdLst/>
            <a:ahLst/>
            <a:cxnLst/>
            <a:rect r="r" b="b" t="t" l="l"/>
            <a:pathLst>
              <a:path h="6313254" w="3696124">
                <a:moveTo>
                  <a:pt x="0" y="0"/>
                </a:moveTo>
                <a:lnTo>
                  <a:pt x="3696123" y="0"/>
                </a:lnTo>
                <a:lnTo>
                  <a:pt x="3696123" y="6313254"/>
                </a:lnTo>
                <a:lnTo>
                  <a:pt x="0" y="631325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2079210" y="3411729"/>
            <a:ext cx="2827990" cy="4114800"/>
          </a:xfrm>
          <a:custGeom>
            <a:avLst/>
            <a:gdLst/>
            <a:ahLst/>
            <a:cxnLst/>
            <a:rect r="r" b="b" t="t" l="l"/>
            <a:pathLst>
              <a:path h="4114800" w="2827990">
                <a:moveTo>
                  <a:pt x="0" y="0"/>
                </a:moveTo>
                <a:lnTo>
                  <a:pt x="2827990" y="0"/>
                </a:lnTo>
                <a:lnTo>
                  <a:pt x="282799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7242108" y="513654"/>
            <a:ext cx="10327519" cy="1127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239"/>
              </a:lnSpc>
              <a:spcBef>
                <a:spcPct val="0"/>
              </a:spcBef>
            </a:pPr>
            <a:r>
              <a:rPr lang="en-US" b="true" sz="6599" spc="-303">
                <a:solidFill>
                  <a:srgbClr val="EBF5FE"/>
                </a:solidFill>
                <a:latin typeface="Garet Bold"/>
                <a:ea typeface="Garet Bold"/>
                <a:cs typeface="Garet Bold"/>
                <a:sym typeface="Garet Bold"/>
              </a:rPr>
              <a:t>TECHNOLOGY STACK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8019827" y="4215794"/>
            <a:ext cx="6389629" cy="772617"/>
            <a:chOff x="0" y="0"/>
            <a:chExt cx="8519506" cy="1030156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0" y="1456"/>
              <a:ext cx="8519506" cy="1028700"/>
              <a:chOff x="0" y="0"/>
              <a:chExt cx="3365731" cy="406400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3365731" cy="406400"/>
              </a:xfrm>
              <a:custGeom>
                <a:avLst/>
                <a:gdLst/>
                <a:ahLst/>
                <a:cxnLst/>
                <a:rect r="r" b="b" t="t" l="l"/>
                <a:pathLst>
                  <a:path h="406400" w="3365731">
                    <a:moveTo>
                      <a:pt x="3162531" y="0"/>
                    </a:moveTo>
                    <a:cubicBezTo>
                      <a:pt x="3274755" y="0"/>
                      <a:pt x="3365731" y="90976"/>
                      <a:pt x="3365731" y="203200"/>
                    </a:cubicBezTo>
                    <a:cubicBezTo>
                      <a:pt x="3365731" y="315424"/>
                      <a:pt x="3274755" y="406400"/>
                      <a:pt x="3162531" y="406400"/>
                    </a:cubicBezTo>
                    <a:lnTo>
                      <a:pt x="203200" y="406400"/>
                    </a:lnTo>
                    <a:cubicBezTo>
                      <a:pt x="90976" y="406400"/>
                      <a:pt x="0" y="315424"/>
                      <a:pt x="0" y="203200"/>
                    </a:cubicBezTo>
                    <a:cubicBezTo>
                      <a:pt x="0" y="90976"/>
                      <a:pt x="90976" y="0"/>
                      <a:pt x="203200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9FCDFF">
                      <a:alpha val="0"/>
                    </a:srgbClr>
                  </a:gs>
                  <a:gs pos="100000">
                    <a:srgbClr val="3964CD">
                      <a:alpha val="100000"/>
                    </a:srgbClr>
                  </a:gs>
                </a:gsLst>
                <a:lin ang="0"/>
              </a:gradFill>
              <a:ln w="47625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28575"/>
                <a:ext cx="3365731" cy="4349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487"/>
                  </a:lnSpc>
                </a:pPr>
              </a:p>
            </p:txBody>
          </p:sp>
        </p:grpSp>
        <p:sp>
          <p:nvSpPr>
            <p:cNvPr name="TextBox 13" id="13"/>
            <p:cNvSpPr txBox="true"/>
            <p:nvPr/>
          </p:nvSpPr>
          <p:spPr>
            <a:xfrm rot="0">
              <a:off x="746359" y="200452"/>
              <a:ext cx="4363418" cy="58014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711"/>
                </a:lnSpc>
                <a:spcBef>
                  <a:spcPct val="0"/>
                </a:spcBef>
              </a:pPr>
              <a:r>
                <a:rPr lang="en-US" b="true" sz="2650" spc="-121">
                  <a:solidFill>
                    <a:srgbClr val="EBF5FE"/>
                  </a:solidFill>
                  <a:latin typeface="Garet Bold"/>
                  <a:ea typeface="Garet Bold"/>
                  <a:cs typeface="Garet Bold"/>
                  <a:sym typeface="Garet Bold"/>
                </a:rPr>
                <a:t>LangChain</a:t>
              </a:r>
            </a:p>
          </p:txBody>
        </p:sp>
        <p:grpSp>
          <p:nvGrpSpPr>
            <p:cNvPr name="Group 14" id="14"/>
            <p:cNvGrpSpPr/>
            <p:nvPr/>
          </p:nvGrpSpPr>
          <p:grpSpPr>
            <a:xfrm rot="0">
              <a:off x="6122224" y="0"/>
              <a:ext cx="2397281" cy="1028700"/>
              <a:chOff x="0" y="0"/>
              <a:chExt cx="947074" cy="406400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947074" cy="406400"/>
              </a:xfrm>
              <a:custGeom>
                <a:avLst/>
                <a:gdLst/>
                <a:ahLst/>
                <a:cxnLst/>
                <a:rect r="r" b="b" t="t" l="l"/>
                <a:pathLst>
                  <a:path h="406400" w="947074">
                    <a:moveTo>
                      <a:pt x="743874" y="0"/>
                    </a:moveTo>
                    <a:cubicBezTo>
                      <a:pt x="856098" y="0"/>
                      <a:pt x="947074" y="90976"/>
                      <a:pt x="947074" y="203200"/>
                    </a:cubicBezTo>
                    <a:cubicBezTo>
                      <a:pt x="947074" y="315424"/>
                      <a:pt x="856098" y="406400"/>
                      <a:pt x="743874" y="406400"/>
                    </a:cubicBezTo>
                    <a:lnTo>
                      <a:pt x="203200" y="406400"/>
                    </a:lnTo>
                    <a:cubicBezTo>
                      <a:pt x="90976" y="406400"/>
                      <a:pt x="0" y="315424"/>
                      <a:pt x="0" y="203200"/>
                    </a:cubicBezTo>
                    <a:cubicBezTo>
                      <a:pt x="0" y="90976"/>
                      <a:pt x="90976" y="0"/>
                      <a:pt x="203200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5284FF">
                      <a:alpha val="100000"/>
                    </a:srgbClr>
                  </a:gs>
                  <a:gs pos="100000">
                    <a:srgbClr val="000422">
                      <a:alpha val="100000"/>
                    </a:srgbClr>
                  </a:gs>
                </a:gsLst>
                <a:lin ang="0"/>
              </a:gradFill>
              <a:ln w="47625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0" y="-28575"/>
                <a:ext cx="947074" cy="4349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487"/>
                  </a:lnSpc>
                </a:pPr>
              </a:p>
            </p:txBody>
          </p:sp>
        </p:grpSp>
        <p:sp>
          <p:nvSpPr>
            <p:cNvPr name="TextBox 17" id="17"/>
            <p:cNvSpPr txBox="true"/>
            <p:nvPr/>
          </p:nvSpPr>
          <p:spPr>
            <a:xfrm rot="0">
              <a:off x="6727442" y="200452"/>
              <a:ext cx="1186845" cy="58014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711"/>
                </a:lnSpc>
                <a:spcBef>
                  <a:spcPct val="0"/>
                </a:spcBef>
              </a:pPr>
              <a:r>
                <a:rPr lang="en-US" b="true" sz="2650" spc="-121">
                  <a:solidFill>
                    <a:srgbClr val="EBF5FE"/>
                  </a:solidFill>
                  <a:latin typeface="Garet Bold"/>
                  <a:ea typeface="Garet Bold"/>
                  <a:cs typeface="Garet Bold"/>
                  <a:sym typeface="Garet Bold"/>
                </a:rPr>
                <a:t>03.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8019827" y="7562344"/>
            <a:ext cx="6389629" cy="771561"/>
            <a:chOff x="0" y="0"/>
            <a:chExt cx="8519506" cy="1028747"/>
          </a:xfrm>
        </p:grpSpPr>
        <p:grpSp>
          <p:nvGrpSpPr>
            <p:cNvPr name="Group 19" id="19"/>
            <p:cNvGrpSpPr/>
            <p:nvPr/>
          </p:nvGrpSpPr>
          <p:grpSpPr>
            <a:xfrm rot="0">
              <a:off x="0" y="47"/>
              <a:ext cx="8519506" cy="1028700"/>
              <a:chOff x="0" y="0"/>
              <a:chExt cx="3365731" cy="406400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3365731" cy="406400"/>
              </a:xfrm>
              <a:custGeom>
                <a:avLst/>
                <a:gdLst/>
                <a:ahLst/>
                <a:cxnLst/>
                <a:rect r="r" b="b" t="t" l="l"/>
                <a:pathLst>
                  <a:path h="406400" w="3365731">
                    <a:moveTo>
                      <a:pt x="3162531" y="0"/>
                    </a:moveTo>
                    <a:cubicBezTo>
                      <a:pt x="3274755" y="0"/>
                      <a:pt x="3365731" y="90976"/>
                      <a:pt x="3365731" y="203200"/>
                    </a:cubicBezTo>
                    <a:cubicBezTo>
                      <a:pt x="3365731" y="315424"/>
                      <a:pt x="3274755" y="406400"/>
                      <a:pt x="3162531" y="406400"/>
                    </a:cubicBezTo>
                    <a:lnTo>
                      <a:pt x="203200" y="406400"/>
                    </a:lnTo>
                    <a:cubicBezTo>
                      <a:pt x="90976" y="406400"/>
                      <a:pt x="0" y="315424"/>
                      <a:pt x="0" y="203200"/>
                    </a:cubicBezTo>
                    <a:cubicBezTo>
                      <a:pt x="0" y="90976"/>
                      <a:pt x="90976" y="0"/>
                      <a:pt x="203200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9FCDFF">
                      <a:alpha val="0"/>
                    </a:srgbClr>
                  </a:gs>
                  <a:gs pos="100000">
                    <a:srgbClr val="3964CD">
                      <a:alpha val="100000"/>
                    </a:srgbClr>
                  </a:gs>
                </a:gsLst>
                <a:lin ang="0"/>
              </a:gradFill>
              <a:ln w="47625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-28575"/>
                <a:ext cx="3365731" cy="4349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487"/>
                  </a:lnSpc>
                </a:pPr>
              </a:p>
            </p:txBody>
          </p:sp>
        </p:grpSp>
        <p:sp>
          <p:nvSpPr>
            <p:cNvPr name="TextBox 22" id="22"/>
            <p:cNvSpPr txBox="true"/>
            <p:nvPr/>
          </p:nvSpPr>
          <p:spPr>
            <a:xfrm rot="0">
              <a:off x="746359" y="187599"/>
              <a:ext cx="4868303" cy="58014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711"/>
                </a:lnSpc>
                <a:spcBef>
                  <a:spcPct val="0"/>
                </a:spcBef>
              </a:pPr>
              <a:r>
                <a:rPr lang="en-US" b="true" sz="2650" spc="-121">
                  <a:solidFill>
                    <a:srgbClr val="EBF5FE"/>
                  </a:solidFill>
                  <a:latin typeface="Garet Bold"/>
                  <a:ea typeface="Garet Bold"/>
                  <a:cs typeface="Garet Bold"/>
                  <a:sym typeface="Garet Bold"/>
                </a:rPr>
                <a:t>FAISS</a:t>
              </a:r>
            </a:p>
          </p:txBody>
        </p:sp>
        <p:grpSp>
          <p:nvGrpSpPr>
            <p:cNvPr name="Group 23" id="23"/>
            <p:cNvGrpSpPr/>
            <p:nvPr/>
          </p:nvGrpSpPr>
          <p:grpSpPr>
            <a:xfrm rot="0">
              <a:off x="6122224" y="0"/>
              <a:ext cx="2397281" cy="1028700"/>
              <a:chOff x="0" y="0"/>
              <a:chExt cx="947074" cy="406400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947074" cy="406400"/>
              </a:xfrm>
              <a:custGeom>
                <a:avLst/>
                <a:gdLst/>
                <a:ahLst/>
                <a:cxnLst/>
                <a:rect r="r" b="b" t="t" l="l"/>
                <a:pathLst>
                  <a:path h="406400" w="947074">
                    <a:moveTo>
                      <a:pt x="743874" y="0"/>
                    </a:moveTo>
                    <a:cubicBezTo>
                      <a:pt x="856098" y="0"/>
                      <a:pt x="947074" y="90976"/>
                      <a:pt x="947074" y="203200"/>
                    </a:cubicBezTo>
                    <a:cubicBezTo>
                      <a:pt x="947074" y="315424"/>
                      <a:pt x="856098" y="406400"/>
                      <a:pt x="743874" y="406400"/>
                    </a:cubicBezTo>
                    <a:lnTo>
                      <a:pt x="203200" y="406400"/>
                    </a:lnTo>
                    <a:cubicBezTo>
                      <a:pt x="90976" y="406400"/>
                      <a:pt x="0" y="315424"/>
                      <a:pt x="0" y="203200"/>
                    </a:cubicBezTo>
                    <a:cubicBezTo>
                      <a:pt x="0" y="90976"/>
                      <a:pt x="90976" y="0"/>
                      <a:pt x="203200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5284FF">
                      <a:alpha val="100000"/>
                    </a:srgbClr>
                  </a:gs>
                  <a:gs pos="100000">
                    <a:srgbClr val="000422">
                      <a:alpha val="100000"/>
                    </a:srgbClr>
                  </a:gs>
                </a:gsLst>
                <a:lin ang="0"/>
              </a:gradFill>
              <a:ln w="47625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name="TextBox 25" id="25"/>
              <p:cNvSpPr txBox="true"/>
              <p:nvPr/>
            </p:nvSpPr>
            <p:spPr>
              <a:xfrm>
                <a:off x="0" y="-28575"/>
                <a:ext cx="947074" cy="4349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487"/>
                  </a:lnSpc>
                </a:pPr>
              </a:p>
            </p:txBody>
          </p:sp>
        </p:grpSp>
        <p:sp>
          <p:nvSpPr>
            <p:cNvPr name="TextBox 26" id="26"/>
            <p:cNvSpPr txBox="true"/>
            <p:nvPr/>
          </p:nvSpPr>
          <p:spPr>
            <a:xfrm rot="0">
              <a:off x="6727442" y="187599"/>
              <a:ext cx="1186845" cy="58014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711"/>
                </a:lnSpc>
                <a:spcBef>
                  <a:spcPct val="0"/>
                </a:spcBef>
              </a:pPr>
              <a:r>
                <a:rPr lang="en-US" b="true" sz="2650" spc="-121">
                  <a:solidFill>
                    <a:srgbClr val="EBF5FE"/>
                  </a:solidFill>
                  <a:latin typeface="Garet Bold"/>
                  <a:ea typeface="Garet Bold"/>
                  <a:cs typeface="Garet Bold"/>
                  <a:sym typeface="Garet Bold"/>
                </a:rPr>
                <a:t>06.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8019827" y="1986873"/>
            <a:ext cx="6389629" cy="771561"/>
            <a:chOff x="0" y="0"/>
            <a:chExt cx="8519506" cy="1028747"/>
          </a:xfrm>
        </p:grpSpPr>
        <p:grpSp>
          <p:nvGrpSpPr>
            <p:cNvPr name="Group 28" id="28"/>
            <p:cNvGrpSpPr/>
            <p:nvPr/>
          </p:nvGrpSpPr>
          <p:grpSpPr>
            <a:xfrm rot="0">
              <a:off x="0" y="47"/>
              <a:ext cx="8519506" cy="1028700"/>
              <a:chOff x="0" y="0"/>
              <a:chExt cx="3365731" cy="406400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3365731" cy="406400"/>
              </a:xfrm>
              <a:custGeom>
                <a:avLst/>
                <a:gdLst/>
                <a:ahLst/>
                <a:cxnLst/>
                <a:rect r="r" b="b" t="t" l="l"/>
                <a:pathLst>
                  <a:path h="406400" w="3365731">
                    <a:moveTo>
                      <a:pt x="3162531" y="0"/>
                    </a:moveTo>
                    <a:cubicBezTo>
                      <a:pt x="3274755" y="0"/>
                      <a:pt x="3365731" y="90976"/>
                      <a:pt x="3365731" y="203200"/>
                    </a:cubicBezTo>
                    <a:cubicBezTo>
                      <a:pt x="3365731" y="315424"/>
                      <a:pt x="3274755" y="406400"/>
                      <a:pt x="3162531" y="406400"/>
                    </a:cubicBezTo>
                    <a:lnTo>
                      <a:pt x="203200" y="406400"/>
                    </a:lnTo>
                    <a:cubicBezTo>
                      <a:pt x="90976" y="406400"/>
                      <a:pt x="0" y="315424"/>
                      <a:pt x="0" y="203200"/>
                    </a:cubicBezTo>
                    <a:cubicBezTo>
                      <a:pt x="0" y="90976"/>
                      <a:pt x="90976" y="0"/>
                      <a:pt x="203200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9FCDFF">
                      <a:alpha val="0"/>
                    </a:srgbClr>
                  </a:gs>
                  <a:gs pos="100000">
                    <a:srgbClr val="3964CD">
                      <a:alpha val="100000"/>
                    </a:srgbClr>
                  </a:gs>
                </a:gsLst>
                <a:lin ang="0"/>
              </a:gradFill>
              <a:ln w="47625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name="TextBox 30" id="30"/>
              <p:cNvSpPr txBox="true"/>
              <p:nvPr/>
            </p:nvSpPr>
            <p:spPr>
              <a:xfrm>
                <a:off x="0" y="-28575"/>
                <a:ext cx="3365731" cy="4349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487"/>
                  </a:lnSpc>
                </a:pPr>
              </a:p>
            </p:txBody>
          </p:sp>
        </p:grpSp>
        <p:sp>
          <p:nvSpPr>
            <p:cNvPr name="TextBox 31" id="31"/>
            <p:cNvSpPr txBox="true"/>
            <p:nvPr/>
          </p:nvSpPr>
          <p:spPr>
            <a:xfrm rot="0">
              <a:off x="746359" y="187599"/>
              <a:ext cx="4868303" cy="58014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711"/>
                </a:lnSpc>
                <a:spcBef>
                  <a:spcPct val="0"/>
                </a:spcBef>
              </a:pPr>
              <a:r>
                <a:rPr lang="en-US" b="true" sz="2650" spc="-121">
                  <a:solidFill>
                    <a:srgbClr val="EBF5FE"/>
                  </a:solidFill>
                  <a:latin typeface="Garet Bold"/>
                  <a:ea typeface="Garet Bold"/>
                  <a:cs typeface="Garet Bold"/>
                  <a:sym typeface="Garet Bold"/>
                </a:rPr>
                <a:t>Python</a:t>
              </a:r>
            </a:p>
          </p:txBody>
        </p:sp>
        <p:grpSp>
          <p:nvGrpSpPr>
            <p:cNvPr name="Group 32" id="32"/>
            <p:cNvGrpSpPr/>
            <p:nvPr/>
          </p:nvGrpSpPr>
          <p:grpSpPr>
            <a:xfrm rot="0">
              <a:off x="6122224" y="0"/>
              <a:ext cx="2397281" cy="1028700"/>
              <a:chOff x="0" y="0"/>
              <a:chExt cx="947074" cy="406400"/>
            </a:xfrm>
          </p:grpSpPr>
          <p:sp>
            <p:nvSpPr>
              <p:cNvPr name="Freeform 33" id="33"/>
              <p:cNvSpPr/>
              <p:nvPr/>
            </p:nvSpPr>
            <p:spPr>
              <a:xfrm flipH="false" flipV="false" rot="0">
                <a:off x="0" y="0"/>
                <a:ext cx="947074" cy="406400"/>
              </a:xfrm>
              <a:custGeom>
                <a:avLst/>
                <a:gdLst/>
                <a:ahLst/>
                <a:cxnLst/>
                <a:rect r="r" b="b" t="t" l="l"/>
                <a:pathLst>
                  <a:path h="406400" w="947074">
                    <a:moveTo>
                      <a:pt x="743874" y="0"/>
                    </a:moveTo>
                    <a:cubicBezTo>
                      <a:pt x="856098" y="0"/>
                      <a:pt x="947074" y="90976"/>
                      <a:pt x="947074" y="203200"/>
                    </a:cubicBezTo>
                    <a:cubicBezTo>
                      <a:pt x="947074" y="315424"/>
                      <a:pt x="856098" y="406400"/>
                      <a:pt x="743874" y="406400"/>
                    </a:cubicBezTo>
                    <a:lnTo>
                      <a:pt x="203200" y="406400"/>
                    </a:lnTo>
                    <a:cubicBezTo>
                      <a:pt x="90976" y="406400"/>
                      <a:pt x="0" y="315424"/>
                      <a:pt x="0" y="203200"/>
                    </a:cubicBezTo>
                    <a:cubicBezTo>
                      <a:pt x="0" y="90976"/>
                      <a:pt x="90976" y="0"/>
                      <a:pt x="203200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5284FF">
                      <a:alpha val="100000"/>
                    </a:srgbClr>
                  </a:gs>
                  <a:gs pos="100000">
                    <a:srgbClr val="000422">
                      <a:alpha val="100000"/>
                    </a:srgbClr>
                  </a:gs>
                </a:gsLst>
                <a:lin ang="0"/>
              </a:gradFill>
              <a:ln w="47625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name="TextBox 34" id="34"/>
              <p:cNvSpPr txBox="true"/>
              <p:nvPr/>
            </p:nvSpPr>
            <p:spPr>
              <a:xfrm>
                <a:off x="0" y="-28575"/>
                <a:ext cx="947074" cy="4349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487"/>
                  </a:lnSpc>
                </a:pPr>
              </a:p>
            </p:txBody>
          </p:sp>
        </p:grpSp>
        <p:sp>
          <p:nvSpPr>
            <p:cNvPr name="TextBox 35" id="35"/>
            <p:cNvSpPr txBox="true"/>
            <p:nvPr/>
          </p:nvSpPr>
          <p:spPr>
            <a:xfrm rot="0">
              <a:off x="6727442" y="187599"/>
              <a:ext cx="1186845" cy="58014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711"/>
                </a:lnSpc>
                <a:spcBef>
                  <a:spcPct val="0"/>
                </a:spcBef>
              </a:pPr>
              <a:r>
                <a:rPr lang="en-US" b="true" sz="2650" spc="-121">
                  <a:solidFill>
                    <a:srgbClr val="EBF5FE"/>
                  </a:solidFill>
                  <a:latin typeface="Garet Bold"/>
                  <a:ea typeface="Garet Bold"/>
                  <a:cs typeface="Garet Bold"/>
                  <a:sym typeface="Garet Bold"/>
                </a:rPr>
                <a:t>01.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8019827" y="3101333"/>
            <a:ext cx="6389629" cy="771561"/>
            <a:chOff x="0" y="0"/>
            <a:chExt cx="8519506" cy="1028747"/>
          </a:xfrm>
        </p:grpSpPr>
        <p:grpSp>
          <p:nvGrpSpPr>
            <p:cNvPr name="Group 37" id="37"/>
            <p:cNvGrpSpPr/>
            <p:nvPr/>
          </p:nvGrpSpPr>
          <p:grpSpPr>
            <a:xfrm rot="0">
              <a:off x="0" y="47"/>
              <a:ext cx="8519506" cy="1028700"/>
              <a:chOff x="0" y="0"/>
              <a:chExt cx="3365731" cy="406400"/>
            </a:xfrm>
          </p:grpSpPr>
          <p:sp>
            <p:nvSpPr>
              <p:cNvPr name="Freeform 38" id="38"/>
              <p:cNvSpPr/>
              <p:nvPr/>
            </p:nvSpPr>
            <p:spPr>
              <a:xfrm flipH="false" flipV="false" rot="0">
                <a:off x="0" y="0"/>
                <a:ext cx="3365731" cy="406400"/>
              </a:xfrm>
              <a:custGeom>
                <a:avLst/>
                <a:gdLst/>
                <a:ahLst/>
                <a:cxnLst/>
                <a:rect r="r" b="b" t="t" l="l"/>
                <a:pathLst>
                  <a:path h="406400" w="3365731">
                    <a:moveTo>
                      <a:pt x="3162531" y="0"/>
                    </a:moveTo>
                    <a:cubicBezTo>
                      <a:pt x="3274755" y="0"/>
                      <a:pt x="3365731" y="90976"/>
                      <a:pt x="3365731" y="203200"/>
                    </a:cubicBezTo>
                    <a:cubicBezTo>
                      <a:pt x="3365731" y="315424"/>
                      <a:pt x="3274755" y="406400"/>
                      <a:pt x="3162531" y="406400"/>
                    </a:cubicBezTo>
                    <a:lnTo>
                      <a:pt x="203200" y="406400"/>
                    </a:lnTo>
                    <a:cubicBezTo>
                      <a:pt x="90976" y="406400"/>
                      <a:pt x="0" y="315424"/>
                      <a:pt x="0" y="203200"/>
                    </a:cubicBezTo>
                    <a:cubicBezTo>
                      <a:pt x="0" y="90976"/>
                      <a:pt x="90976" y="0"/>
                      <a:pt x="203200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9FCDFF">
                      <a:alpha val="0"/>
                    </a:srgbClr>
                  </a:gs>
                  <a:gs pos="100000">
                    <a:srgbClr val="3964CD">
                      <a:alpha val="100000"/>
                    </a:srgbClr>
                  </a:gs>
                </a:gsLst>
                <a:lin ang="0"/>
              </a:gradFill>
              <a:ln w="47625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name="TextBox 39" id="39"/>
              <p:cNvSpPr txBox="true"/>
              <p:nvPr/>
            </p:nvSpPr>
            <p:spPr>
              <a:xfrm>
                <a:off x="0" y="-28575"/>
                <a:ext cx="3365731" cy="4349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487"/>
                  </a:lnSpc>
                </a:pPr>
              </a:p>
            </p:txBody>
          </p:sp>
        </p:grpSp>
        <p:sp>
          <p:nvSpPr>
            <p:cNvPr name="TextBox 40" id="40"/>
            <p:cNvSpPr txBox="true"/>
            <p:nvPr/>
          </p:nvSpPr>
          <p:spPr>
            <a:xfrm rot="0">
              <a:off x="746359" y="187599"/>
              <a:ext cx="4868303" cy="58014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711"/>
                </a:lnSpc>
                <a:spcBef>
                  <a:spcPct val="0"/>
                </a:spcBef>
              </a:pPr>
              <a:r>
                <a:rPr lang="en-US" b="true" sz="2650" spc="-121">
                  <a:solidFill>
                    <a:srgbClr val="EBF5FE"/>
                  </a:solidFill>
                  <a:latin typeface="Garet Bold"/>
                  <a:ea typeface="Garet Bold"/>
                  <a:cs typeface="Garet Bold"/>
                  <a:sym typeface="Garet Bold"/>
                </a:rPr>
                <a:t>Streamlit</a:t>
              </a:r>
            </a:p>
          </p:txBody>
        </p:sp>
        <p:grpSp>
          <p:nvGrpSpPr>
            <p:cNvPr name="Group 41" id="41"/>
            <p:cNvGrpSpPr/>
            <p:nvPr/>
          </p:nvGrpSpPr>
          <p:grpSpPr>
            <a:xfrm rot="0">
              <a:off x="6122224" y="0"/>
              <a:ext cx="2397281" cy="1028700"/>
              <a:chOff x="0" y="0"/>
              <a:chExt cx="947074" cy="406400"/>
            </a:xfrm>
          </p:grpSpPr>
          <p:sp>
            <p:nvSpPr>
              <p:cNvPr name="Freeform 42" id="42"/>
              <p:cNvSpPr/>
              <p:nvPr/>
            </p:nvSpPr>
            <p:spPr>
              <a:xfrm flipH="false" flipV="false" rot="0">
                <a:off x="0" y="0"/>
                <a:ext cx="947074" cy="406400"/>
              </a:xfrm>
              <a:custGeom>
                <a:avLst/>
                <a:gdLst/>
                <a:ahLst/>
                <a:cxnLst/>
                <a:rect r="r" b="b" t="t" l="l"/>
                <a:pathLst>
                  <a:path h="406400" w="947074">
                    <a:moveTo>
                      <a:pt x="743874" y="0"/>
                    </a:moveTo>
                    <a:cubicBezTo>
                      <a:pt x="856098" y="0"/>
                      <a:pt x="947074" y="90976"/>
                      <a:pt x="947074" y="203200"/>
                    </a:cubicBezTo>
                    <a:cubicBezTo>
                      <a:pt x="947074" y="315424"/>
                      <a:pt x="856098" y="406400"/>
                      <a:pt x="743874" y="406400"/>
                    </a:cubicBezTo>
                    <a:lnTo>
                      <a:pt x="203200" y="406400"/>
                    </a:lnTo>
                    <a:cubicBezTo>
                      <a:pt x="90976" y="406400"/>
                      <a:pt x="0" y="315424"/>
                      <a:pt x="0" y="203200"/>
                    </a:cubicBezTo>
                    <a:cubicBezTo>
                      <a:pt x="0" y="90976"/>
                      <a:pt x="90976" y="0"/>
                      <a:pt x="203200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5284FF">
                      <a:alpha val="100000"/>
                    </a:srgbClr>
                  </a:gs>
                  <a:gs pos="100000">
                    <a:srgbClr val="000422">
                      <a:alpha val="100000"/>
                    </a:srgbClr>
                  </a:gs>
                </a:gsLst>
                <a:lin ang="0"/>
              </a:gradFill>
              <a:ln w="47625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name="TextBox 43" id="43"/>
              <p:cNvSpPr txBox="true"/>
              <p:nvPr/>
            </p:nvSpPr>
            <p:spPr>
              <a:xfrm>
                <a:off x="0" y="-28575"/>
                <a:ext cx="947074" cy="4349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487"/>
                  </a:lnSpc>
                </a:pPr>
              </a:p>
            </p:txBody>
          </p:sp>
        </p:grpSp>
        <p:sp>
          <p:nvSpPr>
            <p:cNvPr name="TextBox 44" id="44"/>
            <p:cNvSpPr txBox="true"/>
            <p:nvPr/>
          </p:nvSpPr>
          <p:spPr>
            <a:xfrm rot="0">
              <a:off x="6727442" y="187599"/>
              <a:ext cx="1186845" cy="58014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711"/>
                </a:lnSpc>
                <a:spcBef>
                  <a:spcPct val="0"/>
                </a:spcBef>
              </a:pPr>
              <a:r>
                <a:rPr lang="en-US" b="true" sz="2650" spc="-121">
                  <a:solidFill>
                    <a:srgbClr val="EBF5FE"/>
                  </a:solidFill>
                  <a:latin typeface="Garet Bold"/>
                  <a:ea typeface="Garet Bold"/>
                  <a:cs typeface="Garet Bold"/>
                  <a:sym typeface="Garet Bold"/>
                </a:rPr>
                <a:t>02.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8019827" y="8676805"/>
            <a:ext cx="6389629" cy="771561"/>
            <a:chOff x="0" y="0"/>
            <a:chExt cx="8519506" cy="1028747"/>
          </a:xfrm>
        </p:grpSpPr>
        <p:grpSp>
          <p:nvGrpSpPr>
            <p:cNvPr name="Group 46" id="46"/>
            <p:cNvGrpSpPr/>
            <p:nvPr/>
          </p:nvGrpSpPr>
          <p:grpSpPr>
            <a:xfrm rot="0">
              <a:off x="0" y="47"/>
              <a:ext cx="8519506" cy="1028700"/>
              <a:chOff x="0" y="0"/>
              <a:chExt cx="3365731" cy="406400"/>
            </a:xfrm>
          </p:grpSpPr>
          <p:sp>
            <p:nvSpPr>
              <p:cNvPr name="Freeform 47" id="47"/>
              <p:cNvSpPr/>
              <p:nvPr/>
            </p:nvSpPr>
            <p:spPr>
              <a:xfrm flipH="false" flipV="false" rot="0">
                <a:off x="0" y="0"/>
                <a:ext cx="3365731" cy="406400"/>
              </a:xfrm>
              <a:custGeom>
                <a:avLst/>
                <a:gdLst/>
                <a:ahLst/>
                <a:cxnLst/>
                <a:rect r="r" b="b" t="t" l="l"/>
                <a:pathLst>
                  <a:path h="406400" w="3365731">
                    <a:moveTo>
                      <a:pt x="3162531" y="0"/>
                    </a:moveTo>
                    <a:cubicBezTo>
                      <a:pt x="3274755" y="0"/>
                      <a:pt x="3365731" y="90976"/>
                      <a:pt x="3365731" y="203200"/>
                    </a:cubicBezTo>
                    <a:cubicBezTo>
                      <a:pt x="3365731" y="315424"/>
                      <a:pt x="3274755" y="406400"/>
                      <a:pt x="3162531" y="406400"/>
                    </a:cubicBezTo>
                    <a:lnTo>
                      <a:pt x="203200" y="406400"/>
                    </a:lnTo>
                    <a:cubicBezTo>
                      <a:pt x="90976" y="406400"/>
                      <a:pt x="0" y="315424"/>
                      <a:pt x="0" y="203200"/>
                    </a:cubicBezTo>
                    <a:cubicBezTo>
                      <a:pt x="0" y="90976"/>
                      <a:pt x="90976" y="0"/>
                      <a:pt x="203200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9FCDFF">
                      <a:alpha val="0"/>
                    </a:srgbClr>
                  </a:gs>
                  <a:gs pos="100000">
                    <a:srgbClr val="3964CD">
                      <a:alpha val="100000"/>
                    </a:srgbClr>
                  </a:gs>
                </a:gsLst>
                <a:lin ang="0"/>
              </a:gradFill>
              <a:ln w="47625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name="TextBox 48" id="48"/>
              <p:cNvSpPr txBox="true"/>
              <p:nvPr/>
            </p:nvSpPr>
            <p:spPr>
              <a:xfrm>
                <a:off x="0" y="-28575"/>
                <a:ext cx="3365731" cy="4349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487"/>
                  </a:lnSpc>
                </a:pPr>
              </a:p>
            </p:txBody>
          </p:sp>
        </p:grpSp>
        <p:sp>
          <p:nvSpPr>
            <p:cNvPr name="TextBox 49" id="49"/>
            <p:cNvSpPr txBox="true"/>
            <p:nvPr/>
          </p:nvSpPr>
          <p:spPr>
            <a:xfrm rot="0">
              <a:off x="746359" y="187599"/>
              <a:ext cx="4868303" cy="58014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711"/>
                </a:lnSpc>
                <a:spcBef>
                  <a:spcPct val="0"/>
                </a:spcBef>
              </a:pPr>
              <a:r>
                <a:rPr lang="en-US" b="true" sz="2650" spc="-121">
                  <a:solidFill>
                    <a:srgbClr val="EBF5FE"/>
                  </a:solidFill>
                  <a:latin typeface="Garet Bold"/>
                  <a:ea typeface="Garet Bold"/>
                  <a:cs typeface="Garet Bold"/>
                  <a:sym typeface="Garet Bold"/>
                </a:rPr>
                <a:t>Ollama</a:t>
              </a:r>
            </a:p>
          </p:txBody>
        </p:sp>
        <p:grpSp>
          <p:nvGrpSpPr>
            <p:cNvPr name="Group 50" id="50"/>
            <p:cNvGrpSpPr/>
            <p:nvPr/>
          </p:nvGrpSpPr>
          <p:grpSpPr>
            <a:xfrm rot="0">
              <a:off x="6122224" y="0"/>
              <a:ext cx="2397281" cy="1028700"/>
              <a:chOff x="0" y="0"/>
              <a:chExt cx="947074" cy="406400"/>
            </a:xfrm>
          </p:grpSpPr>
          <p:sp>
            <p:nvSpPr>
              <p:cNvPr name="Freeform 51" id="51"/>
              <p:cNvSpPr/>
              <p:nvPr/>
            </p:nvSpPr>
            <p:spPr>
              <a:xfrm flipH="false" flipV="false" rot="0">
                <a:off x="0" y="0"/>
                <a:ext cx="947074" cy="406400"/>
              </a:xfrm>
              <a:custGeom>
                <a:avLst/>
                <a:gdLst/>
                <a:ahLst/>
                <a:cxnLst/>
                <a:rect r="r" b="b" t="t" l="l"/>
                <a:pathLst>
                  <a:path h="406400" w="947074">
                    <a:moveTo>
                      <a:pt x="743874" y="0"/>
                    </a:moveTo>
                    <a:cubicBezTo>
                      <a:pt x="856098" y="0"/>
                      <a:pt x="947074" y="90976"/>
                      <a:pt x="947074" y="203200"/>
                    </a:cubicBezTo>
                    <a:cubicBezTo>
                      <a:pt x="947074" y="315424"/>
                      <a:pt x="856098" y="406400"/>
                      <a:pt x="743874" y="406400"/>
                    </a:cubicBezTo>
                    <a:lnTo>
                      <a:pt x="203200" y="406400"/>
                    </a:lnTo>
                    <a:cubicBezTo>
                      <a:pt x="90976" y="406400"/>
                      <a:pt x="0" y="315424"/>
                      <a:pt x="0" y="203200"/>
                    </a:cubicBezTo>
                    <a:cubicBezTo>
                      <a:pt x="0" y="90976"/>
                      <a:pt x="90976" y="0"/>
                      <a:pt x="203200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5284FF">
                      <a:alpha val="100000"/>
                    </a:srgbClr>
                  </a:gs>
                  <a:gs pos="100000">
                    <a:srgbClr val="000422">
                      <a:alpha val="100000"/>
                    </a:srgbClr>
                  </a:gs>
                </a:gsLst>
                <a:lin ang="0"/>
              </a:gradFill>
              <a:ln w="47625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name="TextBox 52" id="52"/>
              <p:cNvSpPr txBox="true"/>
              <p:nvPr/>
            </p:nvSpPr>
            <p:spPr>
              <a:xfrm>
                <a:off x="0" y="-28575"/>
                <a:ext cx="947074" cy="4349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487"/>
                  </a:lnSpc>
                </a:pPr>
              </a:p>
            </p:txBody>
          </p:sp>
        </p:grpSp>
        <p:sp>
          <p:nvSpPr>
            <p:cNvPr name="TextBox 53" id="53"/>
            <p:cNvSpPr txBox="true"/>
            <p:nvPr/>
          </p:nvSpPr>
          <p:spPr>
            <a:xfrm rot="0">
              <a:off x="6727442" y="187599"/>
              <a:ext cx="1186845" cy="58014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711"/>
                </a:lnSpc>
                <a:spcBef>
                  <a:spcPct val="0"/>
                </a:spcBef>
              </a:pPr>
              <a:r>
                <a:rPr lang="en-US" b="true" sz="2650" spc="-121">
                  <a:solidFill>
                    <a:srgbClr val="EBF5FE"/>
                  </a:solidFill>
                  <a:latin typeface="Garet Bold"/>
                  <a:ea typeface="Garet Bold"/>
                  <a:cs typeface="Garet Bold"/>
                  <a:sym typeface="Garet Bold"/>
                </a:rPr>
                <a:t>07.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8019827" y="5331311"/>
            <a:ext cx="6389629" cy="772617"/>
            <a:chOff x="0" y="0"/>
            <a:chExt cx="8519506" cy="1030156"/>
          </a:xfrm>
        </p:grpSpPr>
        <p:grpSp>
          <p:nvGrpSpPr>
            <p:cNvPr name="Group 55" id="55"/>
            <p:cNvGrpSpPr/>
            <p:nvPr/>
          </p:nvGrpSpPr>
          <p:grpSpPr>
            <a:xfrm rot="0">
              <a:off x="0" y="1456"/>
              <a:ext cx="8519506" cy="1028700"/>
              <a:chOff x="0" y="0"/>
              <a:chExt cx="3365731" cy="406400"/>
            </a:xfrm>
          </p:grpSpPr>
          <p:sp>
            <p:nvSpPr>
              <p:cNvPr name="Freeform 56" id="56"/>
              <p:cNvSpPr/>
              <p:nvPr/>
            </p:nvSpPr>
            <p:spPr>
              <a:xfrm flipH="false" flipV="false" rot="0">
                <a:off x="0" y="0"/>
                <a:ext cx="3365731" cy="406400"/>
              </a:xfrm>
              <a:custGeom>
                <a:avLst/>
                <a:gdLst/>
                <a:ahLst/>
                <a:cxnLst/>
                <a:rect r="r" b="b" t="t" l="l"/>
                <a:pathLst>
                  <a:path h="406400" w="3365731">
                    <a:moveTo>
                      <a:pt x="3162531" y="0"/>
                    </a:moveTo>
                    <a:cubicBezTo>
                      <a:pt x="3274755" y="0"/>
                      <a:pt x="3365731" y="90976"/>
                      <a:pt x="3365731" y="203200"/>
                    </a:cubicBezTo>
                    <a:cubicBezTo>
                      <a:pt x="3365731" y="315424"/>
                      <a:pt x="3274755" y="406400"/>
                      <a:pt x="3162531" y="406400"/>
                    </a:cubicBezTo>
                    <a:lnTo>
                      <a:pt x="203200" y="406400"/>
                    </a:lnTo>
                    <a:cubicBezTo>
                      <a:pt x="90976" y="406400"/>
                      <a:pt x="0" y="315424"/>
                      <a:pt x="0" y="203200"/>
                    </a:cubicBezTo>
                    <a:cubicBezTo>
                      <a:pt x="0" y="90976"/>
                      <a:pt x="90976" y="0"/>
                      <a:pt x="203200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9FCDFF">
                      <a:alpha val="0"/>
                    </a:srgbClr>
                  </a:gs>
                  <a:gs pos="100000">
                    <a:srgbClr val="3964CD">
                      <a:alpha val="100000"/>
                    </a:srgbClr>
                  </a:gs>
                </a:gsLst>
                <a:lin ang="0"/>
              </a:gradFill>
              <a:ln w="47625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name="TextBox 57" id="57"/>
              <p:cNvSpPr txBox="true"/>
              <p:nvPr/>
            </p:nvSpPr>
            <p:spPr>
              <a:xfrm>
                <a:off x="0" y="-28575"/>
                <a:ext cx="3365731" cy="4349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487"/>
                  </a:lnSpc>
                </a:pPr>
              </a:p>
            </p:txBody>
          </p:sp>
        </p:grpSp>
        <p:sp>
          <p:nvSpPr>
            <p:cNvPr name="TextBox 58" id="58"/>
            <p:cNvSpPr txBox="true"/>
            <p:nvPr/>
          </p:nvSpPr>
          <p:spPr>
            <a:xfrm rot="0">
              <a:off x="746359" y="200452"/>
              <a:ext cx="4363418" cy="58014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711"/>
                </a:lnSpc>
                <a:spcBef>
                  <a:spcPct val="0"/>
                </a:spcBef>
              </a:pPr>
              <a:r>
                <a:rPr lang="en-US" b="true" sz="2650" spc="-121">
                  <a:solidFill>
                    <a:srgbClr val="EBF5FE"/>
                  </a:solidFill>
                  <a:latin typeface="Garet Bold"/>
                  <a:ea typeface="Garet Bold"/>
                  <a:cs typeface="Garet Bold"/>
                  <a:sym typeface="Garet Bold"/>
                </a:rPr>
                <a:t>LangGraph</a:t>
              </a:r>
            </a:p>
          </p:txBody>
        </p:sp>
        <p:grpSp>
          <p:nvGrpSpPr>
            <p:cNvPr name="Group 59" id="59"/>
            <p:cNvGrpSpPr/>
            <p:nvPr/>
          </p:nvGrpSpPr>
          <p:grpSpPr>
            <a:xfrm rot="0">
              <a:off x="6122224" y="0"/>
              <a:ext cx="2397281" cy="1028700"/>
              <a:chOff x="0" y="0"/>
              <a:chExt cx="947074" cy="406400"/>
            </a:xfrm>
          </p:grpSpPr>
          <p:sp>
            <p:nvSpPr>
              <p:cNvPr name="Freeform 60" id="60"/>
              <p:cNvSpPr/>
              <p:nvPr/>
            </p:nvSpPr>
            <p:spPr>
              <a:xfrm flipH="false" flipV="false" rot="0">
                <a:off x="0" y="0"/>
                <a:ext cx="947074" cy="406400"/>
              </a:xfrm>
              <a:custGeom>
                <a:avLst/>
                <a:gdLst/>
                <a:ahLst/>
                <a:cxnLst/>
                <a:rect r="r" b="b" t="t" l="l"/>
                <a:pathLst>
                  <a:path h="406400" w="947074">
                    <a:moveTo>
                      <a:pt x="743874" y="0"/>
                    </a:moveTo>
                    <a:cubicBezTo>
                      <a:pt x="856098" y="0"/>
                      <a:pt x="947074" y="90976"/>
                      <a:pt x="947074" y="203200"/>
                    </a:cubicBezTo>
                    <a:cubicBezTo>
                      <a:pt x="947074" y="315424"/>
                      <a:pt x="856098" y="406400"/>
                      <a:pt x="743874" y="406400"/>
                    </a:cubicBezTo>
                    <a:lnTo>
                      <a:pt x="203200" y="406400"/>
                    </a:lnTo>
                    <a:cubicBezTo>
                      <a:pt x="90976" y="406400"/>
                      <a:pt x="0" y="315424"/>
                      <a:pt x="0" y="203200"/>
                    </a:cubicBezTo>
                    <a:cubicBezTo>
                      <a:pt x="0" y="90976"/>
                      <a:pt x="90976" y="0"/>
                      <a:pt x="203200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5284FF">
                      <a:alpha val="100000"/>
                    </a:srgbClr>
                  </a:gs>
                  <a:gs pos="100000">
                    <a:srgbClr val="000422">
                      <a:alpha val="100000"/>
                    </a:srgbClr>
                  </a:gs>
                </a:gsLst>
                <a:lin ang="0"/>
              </a:gradFill>
              <a:ln w="47625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name="TextBox 61" id="61"/>
              <p:cNvSpPr txBox="true"/>
              <p:nvPr/>
            </p:nvSpPr>
            <p:spPr>
              <a:xfrm>
                <a:off x="0" y="-28575"/>
                <a:ext cx="947074" cy="4349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487"/>
                  </a:lnSpc>
                </a:pPr>
              </a:p>
            </p:txBody>
          </p:sp>
        </p:grpSp>
        <p:sp>
          <p:nvSpPr>
            <p:cNvPr name="TextBox 62" id="62"/>
            <p:cNvSpPr txBox="true"/>
            <p:nvPr/>
          </p:nvSpPr>
          <p:spPr>
            <a:xfrm rot="0">
              <a:off x="6727442" y="200452"/>
              <a:ext cx="1186845" cy="58014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711"/>
                </a:lnSpc>
                <a:spcBef>
                  <a:spcPct val="0"/>
                </a:spcBef>
              </a:pPr>
              <a:r>
                <a:rPr lang="en-US" b="true" sz="2650" spc="-121">
                  <a:solidFill>
                    <a:srgbClr val="EBF5FE"/>
                  </a:solidFill>
                  <a:latin typeface="Garet Bold"/>
                  <a:ea typeface="Garet Bold"/>
                  <a:cs typeface="Garet Bold"/>
                  <a:sym typeface="Garet Bold"/>
                </a:rPr>
                <a:t>04.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8019827" y="6446827"/>
            <a:ext cx="6389629" cy="772617"/>
            <a:chOff x="0" y="0"/>
            <a:chExt cx="8519506" cy="1030156"/>
          </a:xfrm>
        </p:grpSpPr>
        <p:grpSp>
          <p:nvGrpSpPr>
            <p:cNvPr name="Group 64" id="64"/>
            <p:cNvGrpSpPr/>
            <p:nvPr/>
          </p:nvGrpSpPr>
          <p:grpSpPr>
            <a:xfrm rot="0">
              <a:off x="0" y="1456"/>
              <a:ext cx="8519506" cy="1028700"/>
              <a:chOff x="0" y="0"/>
              <a:chExt cx="3365731" cy="406400"/>
            </a:xfrm>
          </p:grpSpPr>
          <p:sp>
            <p:nvSpPr>
              <p:cNvPr name="Freeform 65" id="65"/>
              <p:cNvSpPr/>
              <p:nvPr/>
            </p:nvSpPr>
            <p:spPr>
              <a:xfrm flipH="false" flipV="false" rot="0">
                <a:off x="0" y="0"/>
                <a:ext cx="3365731" cy="406400"/>
              </a:xfrm>
              <a:custGeom>
                <a:avLst/>
                <a:gdLst/>
                <a:ahLst/>
                <a:cxnLst/>
                <a:rect r="r" b="b" t="t" l="l"/>
                <a:pathLst>
                  <a:path h="406400" w="3365731">
                    <a:moveTo>
                      <a:pt x="3162531" y="0"/>
                    </a:moveTo>
                    <a:cubicBezTo>
                      <a:pt x="3274755" y="0"/>
                      <a:pt x="3365731" y="90976"/>
                      <a:pt x="3365731" y="203200"/>
                    </a:cubicBezTo>
                    <a:cubicBezTo>
                      <a:pt x="3365731" y="315424"/>
                      <a:pt x="3274755" y="406400"/>
                      <a:pt x="3162531" y="406400"/>
                    </a:cubicBezTo>
                    <a:lnTo>
                      <a:pt x="203200" y="406400"/>
                    </a:lnTo>
                    <a:cubicBezTo>
                      <a:pt x="90976" y="406400"/>
                      <a:pt x="0" y="315424"/>
                      <a:pt x="0" y="203200"/>
                    </a:cubicBezTo>
                    <a:cubicBezTo>
                      <a:pt x="0" y="90976"/>
                      <a:pt x="90976" y="0"/>
                      <a:pt x="203200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9FCDFF">
                      <a:alpha val="0"/>
                    </a:srgbClr>
                  </a:gs>
                  <a:gs pos="100000">
                    <a:srgbClr val="3964CD">
                      <a:alpha val="100000"/>
                    </a:srgbClr>
                  </a:gs>
                </a:gsLst>
                <a:lin ang="0"/>
              </a:gradFill>
              <a:ln w="47625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name="TextBox 66" id="66"/>
              <p:cNvSpPr txBox="true"/>
              <p:nvPr/>
            </p:nvSpPr>
            <p:spPr>
              <a:xfrm>
                <a:off x="0" y="-28575"/>
                <a:ext cx="3365731" cy="4349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487"/>
                  </a:lnSpc>
                </a:pPr>
              </a:p>
            </p:txBody>
          </p:sp>
        </p:grpSp>
        <p:sp>
          <p:nvSpPr>
            <p:cNvPr name="TextBox 67" id="67"/>
            <p:cNvSpPr txBox="true"/>
            <p:nvPr/>
          </p:nvSpPr>
          <p:spPr>
            <a:xfrm rot="0">
              <a:off x="397086" y="200452"/>
              <a:ext cx="6574506" cy="58014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711"/>
                </a:lnSpc>
                <a:spcBef>
                  <a:spcPct val="0"/>
                </a:spcBef>
              </a:pPr>
              <a:r>
                <a:rPr lang="en-US" b="true" sz="2650" spc="-121">
                  <a:solidFill>
                    <a:srgbClr val="EBF5FE"/>
                  </a:solidFill>
                  <a:latin typeface="Garet Bold"/>
                  <a:ea typeface="Garet Bold"/>
                  <a:cs typeface="Garet Bold"/>
                  <a:sym typeface="Garet Bold"/>
                </a:rPr>
                <a:t>Hugging Face Embeddings</a:t>
              </a:r>
            </a:p>
          </p:txBody>
        </p:sp>
        <p:grpSp>
          <p:nvGrpSpPr>
            <p:cNvPr name="Group 68" id="68"/>
            <p:cNvGrpSpPr/>
            <p:nvPr/>
          </p:nvGrpSpPr>
          <p:grpSpPr>
            <a:xfrm rot="0">
              <a:off x="6122224" y="0"/>
              <a:ext cx="2397281" cy="1028700"/>
              <a:chOff x="0" y="0"/>
              <a:chExt cx="947074" cy="406400"/>
            </a:xfrm>
          </p:grpSpPr>
          <p:sp>
            <p:nvSpPr>
              <p:cNvPr name="Freeform 69" id="69"/>
              <p:cNvSpPr/>
              <p:nvPr/>
            </p:nvSpPr>
            <p:spPr>
              <a:xfrm flipH="false" flipV="false" rot="0">
                <a:off x="0" y="0"/>
                <a:ext cx="947074" cy="406400"/>
              </a:xfrm>
              <a:custGeom>
                <a:avLst/>
                <a:gdLst/>
                <a:ahLst/>
                <a:cxnLst/>
                <a:rect r="r" b="b" t="t" l="l"/>
                <a:pathLst>
                  <a:path h="406400" w="947074">
                    <a:moveTo>
                      <a:pt x="743874" y="0"/>
                    </a:moveTo>
                    <a:cubicBezTo>
                      <a:pt x="856098" y="0"/>
                      <a:pt x="947074" y="90976"/>
                      <a:pt x="947074" y="203200"/>
                    </a:cubicBezTo>
                    <a:cubicBezTo>
                      <a:pt x="947074" y="315424"/>
                      <a:pt x="856098" y="406400"/>
                      <a:pt x="743874" y="406400"/>
                    </a:cubicBezTo>
                    <a:lnTo>
                      <a:pt x="203200" y="406400"/>
                    </a:lnTo>
                    <a:cubicBezTo>
                      <a:pt x="90976" y="406400"/>
                      <a:pt x="0" y="315424"/>
                      <a:pt x="0" y="203200"/>
                    </a:cubicBezTo>
                    <a:cubicBezTo>
                      <a:pt x="0" y="90976"/>
                      <a:pt x="90976" y="0"/>
                      <a:pt x="203200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5284FF">
                      <a:alpha val="100000"/>
                    </a:srgbClr>
                  </a:gs>
                  <a:gs pos="100000">
                    <a:srgbClr val="000422">
                      <a:alpha val="100000"/>
                    </a:srgbClr>
                  </a:gs>
                </a:gsLst>
                <a:lin ang="0"/>
              </a:gradFill>
              <a:ln w="47625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name="TextBox 70" id="70"/>
              <p:cNvSpPr txBox="true"/>
              <p:nvPr/>
            </p:nvSpPr>
            <p:spPr>
              <a:xfrm>
                <a:off x="0" y="-28575"/>
                <a:ext cx="947074" cy="4349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487"/>
                  </a:lnSpc>
                </a:pPr>
              </a:p>
            </p:txBody>
          </p:sp>
        </p:grpSp>
        <p:sp>
          <p:nvSpPr>
            <p:cNvPr name="TextBox 71" id="71"/>
            <p:cNvSpPr txBox="true"/>
            <p:nvPr/>
          </p:nvSpPr>
          <p:spPr>
            <a:xfrm rot="0">
              <a:off x="6727442" y="200452"/>
              <a:ext cx="1186845" cy="58014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711"/>
                </a:lnSpc>
                <a:spcBef>
                  <a:spcPct val="0"/>
                </a:spcBef>
              </a:pPr>
              <a:r>
                <a:rPr lang="en-US" b="true" sz="2650" spc="-121">
                  <a:solidFill>
                    <a:srgbClr val="EBF5FE"/>
                  </a:solidFill>
                  <a:latin typeface="Garet Bold"/>
                  <a:ea typeface="Garet Bold"/>
                  <a:cs typeface="Garet Bold"/>
                  <a:sym typeface="Garet Bold"/>
                </a:rPr>
                <a:t>05.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5284FF">
                <a:alpha val="100000"/>
              </a:srgbClr>
            </a:gs>
            <a:gs pos="100000">
              <a:srgbClr val="000422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784291" y="901942"/>
            <a:ext cx="475009" cy="475009"/>
          </a:xfrm>
          <a:custGeom>
            <a:avLst/>
            <a:gdLst/>
            <a:ahLst/>
            <a:cxnLst/>
            <a:rect r="r" b="b" t="t" l="l"/>
            <a:pathLst>
              <a:path h="475009" w="475009">
                <a:moveTo>
                  <a:pt x="0" y="0"/>
                </a:moveTo>
                <a:lnTo>
                  <a:pt x="475009" y="0"/>
                </a:lnTo>
                <a:lnTo>
                  <a:pt x="475009" y="475009"/>
                </a:lnTo>
                <a:lnTo>
                  <a:pt x="0" y="4750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104900" y="2621180"/>
            <a:ext cx="4017831" cy="701294"/>
          </a:xfrm>
          <a:custGeom>
            <a:avLst/>
            <a:gdLst/>
            <a:ahLst/>
            <a:cxnLst/>
            <a:rect r="r" b="b" t="t" l="l"/>
            <a:pathLst>
              <a:path h="701294" w="4017831">
                <a:moveTo>
                  <a:pt x="0" y="0"/>
                </a:moveTo>
                <a:lnTo>
                  <a:pt x="4017831" y="0"/>
                </a:lnTo>
                <a:lnTo>
                  <a:pt x="4017831" y="701294"/>
                </a:lnTo>
                <a:lnTo>
                  <a:pt x="0" y="70129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48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1013295" y="2024726"/>
            <a:ext cx="4286897" cy="6237549"/>
          </a:xfrm>
          <a:custGeom>
            <a:avLst/>
            <a:gdLst/>
            <a:ahLst/>
            <a:cxnLst/>
            <a:rect r="r" b="b" t="t" l="l"/>
            <a:pathLst>
              <a:path h="6237549" w="4286897">
                <a:moveTo>
                  <a:pt x="0" y="0"/>
                </a:moveTo>
                <a:lnTo>
                  <a:pt x="4286897" y="0"/>
                </a:lnTo>
                <a:lnTo>
                  <a:pt x="4286897" y="6237548"/>
                </a:lnTo>
                <a:lnTo>
                  <a:pt x="0" y="623754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3893484" y="1817196"/>
            <a:ext cx="3665913" cy="4114800"/>
          </a:xfrm>
          <a:custGeom>
            <a:avLst/>
            <a:gdLst/>
            <a:ahLst/>
            <a:cxnLst/>
            <a:rect r="r" b="b" t="t" l="l"/>
            <a:pathLst>
              <a:path h="4114800" w="3665913">
                <a:moveTo>
                  <a:pt x="0" y="0"/>
                </a:moveTo>
                <a:lnTo>
                  <a:pt x="3665913" y="0"/>
                </a:lnTo>
                <a:lnTo>
                  <a:pt x="366591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904015" y="731393"/>
            <a:ext cx="10291567" cy="12933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574"/>
              </a:lnSpc>
              <a:spcBef>
                <a:spcPct val="0"/>
              </a:spcBef>
            </a:pPr>
            <a:r>
              <a:rPr lang="en-US" b="true" sz="7552" spc="-347">
                <a:solidFill>
                  <a:srgbClr val="EBF5FE"/>
                </a:solidFill>
                <a:latin typeface="Garet Bold"/>
                <a:ea typeface="Garet Bold"/>
                <a:cs typeface="Garet Bold"/>
                <a:sym typeface="Garet Bold"/>
              </a:rPr>
              <a:t>BUSINESS USE CASES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2276585"/>
            <a:ext cx="9984595" cy="8308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9"/>
              </a:lnSpc>
            </a:pPr>
            <a:r>
              <a:rPr lang="en-US" b="true" sz="2499" spc="-114">
                <a:solidFill>
                  <a:srgbClr val="EBF5FE"/>
                </a:solidFill>
                <a:latin typeface="Garet Bold"/>
                <a:ea typeface="Garet Bold"/>
                <a:cs typeface="Garet Bold"/>
                <a:sym typeface="Garet Bold"/>
              </a:rPr>
              <a:t>Potential Applications</a:t>
            </a:r>
          </a:p>
          <a:p>
            <a:pPr algn="just">
              <a:lnSpc>
                <a:spcPts val="3499"/>
              </a:lnSpc>
            </a:pPr>
            <a:r>
              <a:rPr lang="en-US" sz="2499" spc="-114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1. Internal Knowledge Management</a:t>
            </a:r>
          </a:p>
          <a:p>
            <a:pPr algn="just">
              <a:lnSpc>
                <a:spcPts val="3499"/>
              </a:lnSpc>
            </a:pPr>
            <a:r>
              <a:rPr lang="en-US" sz="2499" spc="-114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Find answers in employee handbooks, process documents, and internal guides.</a:t>
            </a:r>
          </a:p>
          <a:p>
            <a:pPr algn="just">
              <a:lnSpc>
                <a:spcPts val="3499"/>
              </a:lnSpc>
            </a:pPr>
          </a:p>
          <a:p>
            <a:pPr algn="just">
              <a:lnSpc>
                <a:spcPts val="3499"/>
              </a:lnSpc>
            </a:pPr>
            <a:r>
              <a:rPr lang="en-US" sz="2499" spc="-114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2. </a:t>
            </a:r>
            <a:r>
              <a:rPr lang="en-US" b="true" sz="2499" spc="-114">
                <a:solidFill>
                  <a:srgbClr val="EBF5FE"/>
                </a:solidFill>
                <a:latin typeface="Garet Bold"/>
                <a:ea typeface="Garet Bold"/>
                <a:cs typeface="Garet Bold"/>
                <a:sym typeface="Garet Bold"/>
              </a:rPr>
              <a:t>Technical Documentation</a:t>
            </a:r>
          </a:p>
          <a:p>
            <a:pPr algn="just">
              <a:lnSpc>
                <a:spcPts val="3499"/>
              </a:lnSpc>
            </a:pPr>
            <a:r>
              <a:rPr lang="en-US" sz="2499" spc="-114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Retrieve relevant explanations from product manuals and technical documents.</a:t>
            </a:r>
          </a:p>
          <a:p>
            <a:pPr algn="just">
              <a:lnSpc>
                <a:spcPts val="3499"/>
              </a:lnSpc>
            </a:pPr>
          </a:p>
          <a:p>
            <a:pPr algn="just">
              <a:lnSpc>
                <a:spcPts val="3499"/>
              </a:lnSpc>
            </a:pPr>
            <a:r>
              <a:rPr lang="en-US" sz="2499" spc="-114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3. </a:t>
            </a:r>
            <a:r>
              <a:rPr lang="en-US" b="true" sz="2499" spc="-114">
                <a:solidFill>
                  <a:srgbClr val="EBF5FE"/>
                </a:solidFill>
                <a:latin typeface="Garet Bold"/>
                <a:ea typeface="Garet Bold"/>
                <a:cs typeface="Garet Bold"/>
                <a:sym typeface="Garet Bold"/>
              </a:rPr>
              <a:t>Customer Support</a:t>
            </a:r>
          </a:p>
          <a:p>
            <a:pPr algn="just">
              <a:lnSpc>
                <a:spcPts val="3499"/>
              </a:lnSpc>
            </a:pPr>
            <a:r>
              <a:rPr lang="en-US" sz="2499" spc="-114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Help support teams locate information in product FAQs and support guides.</a:t>
            </a:r>
          </a:p>
          <a:p>
            <a:pPr algn="just">
              <a:lnSpc>
                <a:spcPts val="3499"/>
              </a:lnSpc>
            </a:pPr>
          </a:p>
          <a:p>
            <a:pPr algn="just">
              <a:lnSpc>
                <a:spcPts val="3499"/>
              </a:lnSpc>
            </a:pPr>
            <a:r>
              <a:rPr lang="en-US" sz="2499" spc="-114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4. </a:t>
            </a:r>
            <a:r>
              <a:rPr lang="en-US" b="true" sz="2499" spc="-114">
                <a:solidFill>
                  <a:srgbClr val="EBF5FE"/>
                </a:solidFill>
                <a:latin typeface="Garet Bold"/>
                <a:ea typeface="Garet Bold"/>
                <a:cs typeface="Garet Bold"/>
                <a:sym typeface="Garet Bold"/>
              </a:rPr>
              <a:t>Learning and Training</a:t>
            </a:r>
          </a:p>
          <a:p>
            <a:pPr algn="just">
              <a:lnSpc>
                <a:spcPts val="3499"/>
              </a:lnSpc>
            </a:pPr>
            <a:r>
              <a:rPr lang="en-US" sz="2499" spc="-114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Answer questions from course materials and learning documents.</a:t>
            </a:r>
          </a:p>
          <a:p>
            <a:pPr algn="just">
              <a:lnSpc>
                <a:spcPts val="3499"/>
              </a:lnSpc>
            </a:pPr>
            <a:r>
              <a:rPr lang="en-US" sz="2499" spc="-114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Current project scope: PDF-based question answering.</a:t>
            </a:r>
          </a:p>
          <a:p>
            <a:pPr algn="just">
              <a:lnSpc>
                <a:spcPts val="3499"/>
              </a:lnSpc>
            </a:pPr>
            <a:r>
              <a:rPr lang="en-US" sz="2499" spc="-114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Future scope: Multiple document formats, enterprise repositories, access controls, and source citations.</a:t>
            </a:r>
          </a:p>
          <a:p>
            <a:pPr algn="just">
              <a:lnSpc>
                <a:spcPts val="349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5284FF">
                <a:alpha val="100000"/>
              </a:srgbClr>
            </a:gs>
            <a:gs pos="100000">
              <a:srgbClr val="000422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081291" y="1403909"/>
            <a:ext cx="475009" cy="475009"/>
          </a:xfrm>
          <a:custGeom>
            <a:avLst/>
            <a:gdLst/>
            <a:ahLst/>
            <a:cxnLst/>
            <a:rect r="r" b="b" t="t" l="l"/>
            <a:pathLst>
              <a:path h="475009" w="475009">
                <a:moveTo>
                  <a:pt x="0" y="0"/>
                </a:moveTo>
                <a:lnTo>
                  <a:pt x="475009" y="0"/>
                </a:lnTo>
                <a:lnTo>
                  <a:pt x="475009" y="475009"/>
                </a:lnTo>
                <a:lnTo>
                  <a:pt x="0" y="4750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104900" y="2621180"/>
            <a:ext cx="4017831" cy="701294"/>
          </a:xfrm>
          <a:custGeom>
            <a:avLst/>
            <a:gdLst/>
            <a:ahLst/>
            <a:cxnLst/>
            <a:rect r="r" b="b" t="t" l="l"/>
            <a:pathLst>
              <a:path h="701294" w="4017831">
                <a:moveTo>
                  <a:pt x="0" y="0"/>
                </a:moveTo>
                <a:lnTo>
                  <a:pt x="4017831" y="0"/>
                </a:lnTo>
                <a:lnTo>
                  <a:pt x="4017831" y="701294"/>
                </a:lnTo>
                <a:lnTo>
                  <a:pt x="0" y="70129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48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-611013" y="1015621"/>
            <a:ext cx="16692304" cy="1127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240"/>
              </a:lnSpc>
              <a:spcBef>
                <a:spcPct val="0"/>
              </a:spcBef>
            </a:pPr>
            <a:r>
              <a:rPr lang="en-US" b="true" sz="6600" spc="-303">
                <a:solidFill>
                  <a:srgbClr val="EBF5FE"/>
                </a:solidFill>
                <a:latin typeface="Garet Bold"/>
                <a:ea typeface="Garet Bold"/>
                <a:cs typeface="Garet Bold"/>
                <a:sym typeface="Garet Bold"/>
              </a:rPr>
              <a:t>EVALUATION &amp; SUCCESS METRICS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04015" y="6495437"/>
            <a:ext cx="5200496" cy="2613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spc="-114" b="true">
                <a:solidFill>
                  <a:srgbClr val="EBF5FE"/>
                </a:solidFill>
                <a:latin typeface="Garet Bold"/>
                <a:ea typeface="Garet Bold"/>
                <a:cs typeface="Garet Bold"/>
                <a:sym typeface="Garet Bold"/>
              </a:rPr>
              <a:t>Answer Quality</a:t>
            </a:r>
          </a:p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 spc="-114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Factual correctness</a:t>
            </a:r>
          </a:p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 spc="-114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Relevance to the question</a:t>
            </a:r>
          </a:p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 spc="-114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Faithfulness to retrieved context</a:t>
            </a:r>
          </a:p>
          <a:p>
            <a:pPr algn="just">
              <a:lnSpc>
                <a:spcPts val="3499"/>
              </a:lnSpc>
              <a:spcBef>
                <a:spcPct val="0"/>
              </a:spcBef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10951536" y="2924202"/>
            <a:ext cx="6307764" cy="2613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9"/>
              </a:lnSpc>
            </a:pPr>
            <a:r>
              <a:rPr lang="en-US" b="true" sz="2499" spc="-114">
                <a:solidFill>
                  <a:srgbClr val="EBF5FE"/>
                </a:solidFill>
                <a:latin typeface="Garet Bold"/>
                <a:ea typeface="Garet Bold"/>
                <a:cs typeface="Garet Bold"/>
                <a:sym typeface="Garet Bold"/>
              </a:rPr>
              <a:t>System </a:t>
            </a:r>
            <a:r>
              <a:rPr lang="en-US" b="true" sz="2499" spc="-114">
                <a:solidFill>
                  <a:srgbClr val="EBF5FE"/>
                </a:solidFill>
                <a:latin typeface="Garet Bold"/>
                <a:ea typeface="Garet Bold"/>
                <a:cs typeface="Garet Bold"/>
                <a:sym typeface="Garet Bold"/>
              </a:rPr>
              <a:t>Performance</a:t>
            </a:r>
          </a:p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 spc="-114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Docum</a:t>
            </a:r>
            <a:r>
              <a:rPr lang="en-US" sz="2499" spc="-114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ent processing time</a:t>
            </a:r>
          </a:p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 spc="-114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Retrieval latency</a:t>
            </a:r>
          </a:p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 spc="-114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End-to-end response time</a:t>
            </a:r>
          </a:p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 spc="-114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Applic</a:t>
            </a:r>
            <a:r>
              <a:rPr lang="en-US" sz="2499" spc="-114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ation error rate</a:t>
            </a:r>
          </a:p>
          <a:p>
            <a:pPr algn="just">
              <a:lnSpc>
                <a:spcPts val="3499"/>
              </a:lnSpc>
              <a:spcBef>
                <a:spcPct val="0"/>
              </a:spcBef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10248536" y="6495437"/>
            <a:ext cx="6307764" cy="2174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spc="-114" b="true">
                <a:solidFill>
                  <a:srgbClr val="EBF5FE"/>
                </a:solidFill>
                <a:latin typeface="Garet Bold"/>
                <a:ea typeface="Garet Bold"/>
                <a:cs typeface="Garet Bold"/>
                <a:sym typeface="Garet Bold"/>
              </a:rPr>
              <a:t>Business Outcomes</a:t>
            </a:r>
          </a:p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 spc="-114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Time required to find information</a:t>
            </a:r>
          </a:p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 spc="-114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User satisfaction</a:t>
            </a:r>
          </a:p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 spc="-114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Reduction in manual searching</a:t>
            </a:r>
          </a:p>
          <a:p>
            <a:pPr algn="just">
              <a:lnSpc>
                <a:spcPts val="3499"/>
              </a:lnSpc>
              <a:spcBef>
                <a:spcPct val="0"/>
              </a:spcBef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635768" y="2924202"/>
            <a:ext cx="8806801" cy="2613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spc="-114" b="true">
                <a:solidFill>
                  <a:srgbClr val="EBF5FE"/>
                </a:solidFill>
                <a:latin typeface="Garet Bold"/>
                <a:ea typeface="Garet Bold"/>
                <a:cs typeface="Garet Bold"/>
                <a:sym typeface="Garet Bold"/>
              </a:rPr>
              <a:t>Retrieval Quality</a:t>
            </a:r>
          </a:p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 spc="-114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Precision@K: How many retrieved chun</a:t>
            </a:r>
            <a:r>
              <a:rPr lang="en-US" sz="2499" spc="-114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ks are relevant?</a:t>
            </a:r>
          </a:p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 spc="-114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Recall@K: How much relevant information is retrieved?</a:t>
            </a:r>
          </a:p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 spc="-114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Mean Reciprocal Rank (MRR): How highly is the first </a:t>
            </a:r>
          </a:p>
          <a:p>
            <a:pPr algn="just">
              <a:lnSpc>
                <a:spcPts val="3499"/>
              </a:lnSpc>
            </a:pPr>
            <a:r>
              <a:rPr lang="en-US" sz="2499" spc="-114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        </a:t>
            </a:r>
            <a:r>
              <a:rPr lang="en-US" sz="2499" spc="-114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relevant result ranked?</a:t>
            </a:r>
          </a:p>
          <a:p>
            <a:pPr algn="just">
              <a:lnSpc>
                <a:spcPts val="349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5284FF">
                <a:alpha val="100000"/>
              </a:srgbClr>
            </a:gs>
            <a:gs pos="100000">
              <a:srgbClr val="000422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784291" y="901942"/>
            <a:ext cx="475009" cy="475009"/>
          </a:xfrm>
          <a:custGeom>
            <a:avLst/>
            <a:gdLst/>
            <a:ahLst/>
            <a:cxnLst/>
            <a:rect r="r" b="b" t="t" l="l"/>
            <a:pathLst>
              <a:path h="475009" w="475009">
                <a:moveTo>
                  <a:pt x="0" y="0"/>
                </a:moveTo>
                <a:lnTo>
                  <a:pt x="475009" y="0"/>
                </a:lnTo>
                <a:lnTo>
                  <a:pt x="475009" y="475009"/>
                </a:lnTo>
                <a:lnTo>
                  <a:pt x="0" y="4750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104900" y="2621180"/>
            <a:ext cx="4017831" cy="701294"/>
          </a:xfrm>
          <a:custGeom>
            <a:avLst/>
            <a:gdLst/>
            <a:ahLst/>
            <a:cxnLst/>
            <a:rect r="r" b="b" t="t" l="l"/>
            <a:pathLst>
              <a:path h="701294" w="4017831">
                <a:moveTo>
                  <a:pt x="0" y="0"/>
                </a:moveTo>
                <a:lnTo>
                  <a:pt x="4017831" y="0"/>
                </a:lnTo>
                <a:lnTo>
                  <a:pt x="4017831" y="701294"/>
                </a:lnTo>
                <a:lnTo>
                  <a:pt x="0" y="70129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48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461243" y="2383314"/>
            <a:ext cx="3237235" cy="7009760"/>
          </a:xfrm>
          <a:custGeom>
            <a:avLst/>
            <a:gdLst/>
            <a:ahLst/>
            <a:cxnLst/>
            <a:rect r="r" b="b" t="t" l="l"/>
            <a:pathLst>
              <a:path h="7009760" w="3237235">
                <a:moveTo>
                  <a:pt x="0" y="0"/>
                </a:moveTo>
                <a:lnTo>
                  <a:pt x="3237235" y="0"/>
                </a:lnTo>
                <a:lnTo>
                  <a:pt x="3237235" y="7009760"/>
                </a:lnTo>
                <a:lnTo>
                  <a:pt x="0" y="700976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831451" y="4475828"/>
            <a:ext cx="2871723" cy="2824731"/>
          </a:xfrm>
          <a:custGeom>
            <a:avLst/>
            <a:gdLst/>
            <a:ahLst/>
            <a:cxnLst/>
            <a:rect r="r" b="b" t="t" l="l"/>
            <a:pathLst>
              <a:path h="2824731" w="2871723">
                <a:moveTo>
                  <a:pt x="0" y="0"/>
                </a:moveTo>
                <a:lnTo>
                  <a:pt x="2871722" y="0"/>
                </a:lnTo>
                <a:lnTo>
                  <a:pt x="2871722" y="2824731"/>
                </a:lnTo>
                <a:lnTo>
                  <a:pt x="0" y="282473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592355" y="430552"/>
            <a:ext cx="17259300" cy="1127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240"/>
              </a:lnSpc>
              <a:spcBef>
                <a:spcPct val="0"/>
              </a:spcBef>
            </a:pPr>
            <a:r>
              <a:rPr lang="en-US" b="true" sz="6600" spc="-303">
                <a:solidFill>
                  <a:srgbClr val="EBF5FE"/>
                </a:solidFill>
                <a:latin typeface="Garet Bold"/>
                <a:ea typeface="Garet Bold"/>
                <a:cs typeface="Garet Bold"/>
                <a:sym typeface="Garet Bold"/>
              </a:rPr>
              <a:t>LIMITATIONS, RISKS &amp; CONSIDERATIONS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49469" y="3452969"/>
            <a:ext cx="7197634" cy="612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51" indent="-269876" lvl="1">
              <a:lnSpc>
                <a:spcPts val="3500"/>
              </a:lnSpc>
              <a:buFont typeface="Arial"/>
              <a:buChar char="•"/>
            </a:pPr>
            <a:r>
              <a:rPr lang="en-US" b="true" sz="2500" spc="-115">
                <a:solidFill>
                  <a:srgbClr val="EBF5FE"/>
                </a:solidFill>
                <a:latin typeface="Garet Bold"/>
                <a:ea typeface="Garet Bold"/>
                <a:cs typeface="Garet Bold"/>
                <a:sym typeface="Garet Bold"/>
              </a:rPr>
              <a:t>The initial solution focuses on PDF documents.</a:t>
            </a:r>
          </a:p>
          <a:p>
            <a:pPr algn="l" marL="539751" indent="-269876" lvl="1">
              <a:lnSpc>
                <a:spcPts val="3500"/>
              </a:lnSpc>
              <a:buFont typeface="Arial"/>
              <a:buChar char="•"/>
            </a:pPr>
            <a:r>
              <a:rPr lang="en-US" b="true" sz="2500" spc="-115">
                <a:solidFill>
                  <a:srgbClr val="EBF5FE"/>
                </a:solidFill>
                <a:latin typeface="Garet Bold"/>
                <a:ea typeface="Garet Bold"/>
                <a:cs typeface="Garet Bold"/>
                <a:sym typeface="Garet Bold"/>
              </a:rPr>
              <a:t>Poor-quality or scanned PDFs may require O</a:t>
            </a:r>
            <a:r>
              <a:rPr lang="en-US" b="true" sz="2500" spc="-115">
                <a:solidFill>
                  <a:srgbClr val="EBF5FE"/>
                </a:solidFill>
                <a:latin typeface="Garet Bold"/>
                <a:ea typeface="Garet Bold"/>
                <a:cs typeface="Garet Bold"/>
                <a:sym typeface="Garet Bold"/>
              </a:rPr>
              <a:t>CR.</a:t>
            </a:r>
          </a:p>
          <a:p>
            <a:pPr algn="l" marL="539751" indent="-269876" lvl="1">
              <a:lnSpc>
                <a:spcPts val="3500"/>
              </a:lnSpc>
              <a:buFont typeface="Arial"/>
              <a:buChar char="•"/>
            </a:pPr>
            <a:r>
              <a:rPr lang="en-US" b="true" sz="2500" spc="-115">
                <a:solidFill>
                  <a:srgbClr val="EBF5FE"/>
                </a:solidFill>
                <a:latin typeface="Garet Bold"/>
                <a:ea typeface="Garet Bold"/>
                <a:cs typeface="Garet Bold"/>
                <a:sym typeface="Garet Bold"/>
              </a:rPr>
              <a:t>Irrelevant retrieval can lead to incomplete or </a:t>
            </a:r>
          </a:p>
          <a:p>
            <a:pPr algn="l">
              <a:lnSpc>
                <a:spcPts val="3500"/>
              </a:lnSpc>
              <a:spcBef>
                <a:spcPct val="0"/>
              </a:spcBef>
            </a:pPr>
            <a:r>
              <a:rPr lang="en-US" b="true" sz="2500" spc="-115">
                <a:solidFill>
                  <a:srgbClr val="EBF5FE"/>
                </a:solidFill>
                <a:latin typeface="Garet Bold"/>
                <a:ea typeface="Garet Bold"/>
                <a:cs typeface="Garet Bold"/>
                <a:sym typeface="Garet Bold"/>
              </a:rPr>
              <a:t>         </a:t>
            </a:r>
            <a:r>
              <a:rPr lang="en-US" b="true" sz="2500" spc="-115">
                <a:solidFill>
                  <a:srgbClr val="EBF5FE"/>
                </a:solidFill>
                <a:latin typeface="Garet Bold"/>
                <a:ea typeface="Garet Bold"/>
                <a:cs typeface="Garet Bold"/>
                <a:sym typeface="Garet Bold"/>
              </a:rPr>
              <a:t>inacc</a:t>
            </a:r>
            <a:r>
              <a:rPr lang="en-US" b="true" sz="2500" spc="-115">
                <a:solidFill>
                  <a:srgbClr val="EBF5FE"/>
                </a:solidFill>
                <a:latin typeface="Garet Bold"/>
                <a:ea typeface="Garet Bold"/>
                <a:cs typeface="Garet Bold"/>
                <a:sym typeface="Garet Bold"/>
              </a:rPr>
              <a:t>urate answers.</a:t>
            </a:r>
          </a:p>
          <a:p>
            <a:pPr algn="l" marL="539751" indent="-269876" lvl="1">
              <a:lnSpc>
                <a:spcPts val="350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500" spc="-115">
                <a:solidFill>
                  <a:srgbClr val="EBF5FE"/>
                </a:solidFill>
                <a:latin typeface="Garet Bold"/>
                <a:ea typeface="Garet Bold"/>
                <a:cs typeface="Garet Bold"/>
                <a:sym typeface="Garet Bold"/>
              </a:rPr>
              <a:t>Response time depends on document size, retrieval settings, hardware, and the selected LLM.</a:t>
            </a:r>
          </a:p>
          <a:p>
            <a:pPr algn="l" marL="539751" indent="-269876" lvl="1">
              <a:lnSpc>
                <a:spcPts val="350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500" spc="-115">
                <a:solidFill>
                  <a:srgbClr val="EBF5FE"/>
                </a:solidFill>
                <a:latin typeface="Garet Bold"/>
                <a:ea typeface="Garet Bold"/>
                <a:cs typeface="Garet Bold"/>
                <a:sym typeface="Garet Bold"/>
              </a:rPr>
              <a:t>Local Ollama execution requires the model to be accessible where the application runs.</a:t>
            </a:r>
          </a:p>
          <a:p>
            <a:pPr algn="l">
              <a:lnSpc>
                <a:spcPts val="3500"/>
              </a:lnSpc>
              <a:spcBef>
                <a:spcPct val="0"/>
              </a:spcBef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408066" y="2554098"/>
            <a:ext cx="4288669" cy="564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50"/>
              </a:lnSpc>
              <a:spcBef>
                <a:spcPct val="0"/>
              </a:spcBef>
            </a:pPr>
            <a:r>
              <a:rPr lang="en-US" b="true" sz="3321" spc="-152">
                <a:solidFill>
                  <a:srgbClr val="EBF5FE"/>
                </a:solidFill>
                <a:latin typeface="Garet Bold"/>
                <a:ea typeface="Garet Bold"/>
                <a:cs typeface="Garet Bold"/>
                <a:sym typeface="Garet Bold"/>
              </a:rPr>
              <a:t>C</a:t>
            </a:r>
            <a:r>
              <a:rPr lang="en-US" b="true" sz="3321" spc="-152">
                <a:solidFill>
                  <a:srgbClr val="EBF5FE"/>
                </a:solidFill>
                <a:latin typeface="Garet Bold"/>
                <a:ea typeface="Garet Bold"/>
                <a:cs typeface="Garet Bold"/>
                <a:sym typeface="Garet Bold"/>
              </a:rPr>
              <a:t>urrent Limitations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108504" y="2554505"/>
            <a:ext cx="5743151" cy="564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50"/>
              </a:lnSpc>
              <a:spcBef>
                <a:spcPct val="0"/>
              </a:spcBef>
            </a:pPr>
            <a:r>
              <a:rPr lang="en-US" b="true" sz="3321" spc="-152">
                <a:solidFill>
                  <a:srgbClr val="EBF5FE"/>
                </a:solidFill>
                <a:latin typeface="Garet Bold"/>
                <a:ea typeface="Garet Bold"/>
                <a:cs typeface="Garet Bold"/>
                <a:sym typeface="Garet Bold"/>
              </a:rPr>
              <a:t>P</a:t>
            </a:r>
            <a:r>
              <a:rPr lang="en-US" b="true" sz="3321" spc="-152">
                <a:solidFill>
                  <a:srgbClr val="EBF5FE"/>
                </a:solidFill>
                <a:latin typeface="Garet Bold"/>
                <a:ea typeface="Garet Bold"/>
                <a:cs typeface="Garet Bold"/>
                <a:sym typeface="Garet Bold"/>
              </a:rPr>
              <a:t>roduction Considerations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108504" y="3452969"/>
            <a:ext cx="5743151" cy="4813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51" indent="-269876" lvl="1">
              <a:lnSpc>
                <a:spcPts val="3500"/>
              </a:lnSpc>
              <a:buFont typeface="Arial"/>
              <a:buChar char="•"/>
            </a:pPr>
            <a:r>
              <a:rPr lang="en-US" b="true" sz="2500" spc="-115">
                <a:solidFill>
                  <a:srgbClr val="EBF5FE"/>
                </a:solidFill>
                <a:latin typeface="Garet Bold"/>
                <a:ea typeface="Garet Bold"/>
                <a:cs typeface="Garet Bold"/>
                <a:sym typeface="Garet Bold"/>
              </a:rPr>
              <a:t>Secure document st</a:t>
            </a:r>
            <a:r>
              <a:rPr lang="en-US" b="true" sz="2500" spc="-115">
                <a:solidFill>
                  <a:srgbClr val="EBF5FE"/>
                </a:solidFill>
                <a:latin typeface="Garet Bold"/>
                <a:ea typeface="Garet Bold"/>
                <a:cs typeface="Garet Bold"/>
                <a:sym typeface="Garet Bold"/>
              </a:rPr>
              <a:t>orage and access controls</a:t>
            </a:r>
          </a:p>
          <a:p>
            <a:pPr algn="l" marL="539751" indent="-269876" lvl="1">
              <a:lnSpc>
                <a:spcPts val="3500"/>
              </a:lnSpc>
              <a:buFont typeface="Arial"/>
              <a:buChar char="•"/>
            </a:pPr>
            <a:r>
              <a:rPr lang="en-US" b="true" sz="2500" spc="-115">
                <a:solidFill>
                  <a:srgbClr val="EBF5FE"/>
                </a:solidFill>
                <a:latin typeface="Garet Bold"/>
                <a:ea typeface="Garet Bold"/>
                <a:cs typeface="Garet Bold"/>
                <a:sym typeface="Garet Bold"/>
              </a:rPr>
              <a:t>Testing for hal</a:t>
            </a:r>
            <a:r>
              <a:rPr lang="en-US" b="true" sz="2500" spc="-115">
                <a:solidFill>
                  <a:srgbClr val="EBF5FE"/>
                </a:solidFill>
                <a:latin typeface="Garet Bold"/>
                <a:ea typeface="Garet Bold"/>
                <a:cs typeface="Garet Bold"/>
                <a:sym typeface="Garet Bold"/>
              </a:rPr>
              <a:t>lucinations and retrieval failures</a:t>
            </a:r>
          </a:p>
          <a:p>
            <a:pPr algn="l" marL="539751" indent="-269876" lvl="1">
              <a:lnSpc>
                <a:spcPts val="350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500" spc="-115">
                <a:solidFill>
                  <a:srgbClr val="EBF5FE"/>
                </a:solidFill>
                <a:latin typeface="Garet Bold"/>
                <a:ea typeface="Garet Bold"/>
                <a:cs typeface="Garet Bold"/>
                <a:sym typeface="Garet Bold"/>
              </a:rPr>
              <a:t>Logging, monitoring, and </a:t>
            </a:r>
            <a:r>
              <a:rPr lang="en-US" b="true" sz="2500" spc="-115">
                <a:solidFill>
                  <a:srgbClr val="EBF5FE"/>
                </a:solidFill>
                <a:latin typeface="Garet Bold"/>
                <a:ea typeface="Garet Bold"/>
                <a:cs typeface="Garet Bold"/>
                <a:sym typeface="Garet Bold"/>
              </a:rPr>
              <a:t>error handling</a:t>
            </a:r>
          </a:p>
          <a:p>
            <a:pPr algn="l" marL="539751" indent="-269876" lvl="1">
              <a:lnSpc>
                <a:spcPts val="350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500" spc="-115">
                <a:solidFill>
                  <a:srgbClr val="EBF5FE"/>
                </a:solidFill>
                <a:latin typeface="Garet Bold"/>
                <a:ea typeface="Garet Bold"/>
                <a:cs typeface="Garet Bold"/>
                <a:sym typeface="Garet Bold"/>
              </a:rPr>
              <a:t>User-specific document permissions</a:t>
            </a:r>
          </a:p>
          <a:p>
            <a:pPr algn="l" marL="539751" indent="-269876" lvl="1">
              <a:lnSpc>
                <a:spcPts val="350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500" spc="-115">
                <a:solidFill>
                  <a:srgbClr val="EBF5FE"/>
                </a:solidFill>
                <a:latin typeface="Garet Bold"/>
                <a:ea typeface="Garet Bold"/>
                <a:cs typeface="Garet Bold"/>
                <a:sym typeface="Garet Bold"/>
              </a:rPr>
              <a:t>Privacy and data-retention policies</a:t>
            </a:r>
          </a:p>
          <a:p>
            <a:pPr algn="l">
              <a:lnSpc>
                <a:spcPts val="350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5284FF">
                <a:alpha val="100000"/>
              </a:srgbClr>
            </a:gs>
            <a:gs pos="100000">
              <a:srgbClr val="000422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8354">
            <a:off x="10695521" y="-42357"/>
            <a:ext cx="10371714" cy="10371714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9FCDFF">
                    <a:alpha val="0"/>
                  </a:srgbClr>
                </a:gs>
                <a:gs pos="100000">
                  <a:srgbClr val="3964CD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6784291" y="901942"/>
            <a:ext cx="475009" cy="475009"/>
          </a:xfrm>
          <a:custGeom>
            <a:avLst/>
            <a:gdLst/>
            <a:ahLst/>
            <a:cxnLst/>
            <a:rect r="r" b="b" t="t" l="l"/>
            <a:pathLst>
              <a:path h="475009" w="475009">
                <a:moveTo>
                  <a:pt x="0" y="0"/>
                </a:moveTo>
                <a:lnTo>
                  <a:pt x="475009" y="0"/>
                </a:lnTo>
                <a:lnTo>
                  <a:pt x="475009" y="475009"/>
                </a:lnTo>
                <a:lnTo>
                  <a:pt x="0" y="4750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593325" y="1376951"/>
            <a:ext cx="7323973" cy="5705573"/>
            <a:chOff x="0" y="0"/>
            <a:chExt cx="9765298" cy="760743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5246113" y="0"/>
              <a:ext cx="4428841" cy="5486400"/>
            </a:xfrm>
            <a:custGeom>
              <a:avLst/>
              <a:gdLst/>
              <a:ahLst/>
              <a:cxnLst/>
              <a:rect r="r" b="b" t="t" l="l"/>
              <a:pathLst>
                <a:path h="5486400" w="4428841">
                  <a:moveTo>
                    <a:pt x="0" y="0"/>
                  </a:moveTo>
                  <a:lnTo>
                    <a:pt x="4428840" y="0"/>
                  </a:lnTo>
                  <a:lnTo>
                    <a:pt x="4428840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1241230" y="2121031"/>
              <a:ext cx="8524068" cy="5486400"/>
            </a:xfrm>
            <a:custGeom>
              <a:avLst/>
              <a:gdLst/>
              <a:ahLst/>
              <a:cxnLst/>
              <a:rect r="r" b="b" t="t" l="l"/>
              <a:pathLst>
                <a:path h="5486400" w="8524068">
                  <a:moveTo>
                    <a:pt x="0" y="0"/>
                  </a:moveTo>
                  <a:lnTo>
                    <a:pt x="8524068" y="0"/>
                  </a:lnTo>
                  <a:lnTo>
                    <a:pt x="8524068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0" y="1319485"/>
              <a:ext cx="4428841" cy="5486400"/>
            </a:xfrm>
            <a:custGeom>
              <a:avLst/>
              <a:gdLst/>
              <a:ahLst/>
              <a:cxnLst/>
              <a:rect r="r" b="b" t="t" l="l"/>
              <a:pathLst>
                <a:path h="5486400" w="4428841">
                  <a:moveTo>
                    <a:pt x="0" y="0"/>
                  </a:moveTo>
                  <a:lnTo>
                    <a:pt x="4428841" y="0"/>
                  </a:lnTo>
                  <a:lnTo>
                    <a:pt x="4428841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6070360" y="8863664"/>
            <a:ext cx="1188940" cy="297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87"/>
              </a:lnSpc>
              <a:spcBef>
                <a:spcPct val="0"/>
              </a:spcBef>
            </a:pPr>
            <a:r>
              <a:rPr lang="en-US" sz="1777" spc="-81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page 010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662362" y="1265581"/>
            <a:ext cx="8002468" cy="20065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054"/>
              </a:lnSpc>
              <a:spcBef>
                <a:spcPct val="0"/>
              </a:spcBef>
            </a:pPr>
            <a:r>
              <a:rPr lang="en-US" b="true" sz="5752" spc="-264">
                <a:solidFill>
                  <a:srgbClr val="EBF5FE"/>
                </a:solidFill>
                <a:latin typeface="Garet Bold"/>
                <a:ea typeface="Garet Bold"/>
                <a:cs typeface="Garet Bold"/>
                <a:sym typeface="Garet Bold"/>
              </a:rPr>
              <a:t>DEPLOYMENT &amp; FUTURE ROADMAP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789340" y="3710256"/>
            <a:ext cx="7875490" cy="3070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9"/>
              </a:lnSpc>
            </a:pPr>
            <a:r>
              <a:rPr lang="en-US" sz="2499" spc="-114">
                <a:solidFill>
                  <a:srgbClr val="EBF5FE"/>
                </a:solidFill>
                <a:latin typeface="Poppins"/>
                <a:ea typeface="Poppins"/>
                <a:cs typeface="Poppins"/>
                <a:sym typeface="Poppins"/>
              </a:rPr>
              <a:t>Current prototype:</a:t>
            </a:r>
          </a:p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 spc="-114">
                <a:solidFill>
                  <a:srgbClr val="EBF5FE"/>
                </a:solidFill>
                <a:latin typeface="Poppins"/>
                <a:ea typeface="Poppins"/>
                <a:cs typeface="Poppins"/>
                <a:sym typeface="Poppins"/>
              </a:rPr>
              <a:t>Streamlit application</a:t>
            </a:r>
          </a:p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 spc="-114">
                <a:solidFill>
                  <a:srgbClr val="EBF5FE"/>
                </a:solidFill>
                <a:latin typeface="Poppins"/>
                <a:ea typeface="Poppins"/>
                <a:cs typeface="Poppins"/>
                <a:sym typeface="Poppins"/>
              </a:rPr>
              <a:t>PDF ingestion and retrieval</a:t>
            </a:r>
          </a:p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 spc="-114">
                <a:solidFill>
                  <a:srgbClr val="EBF5FE"/>
                </a:solidFill>
                <a:latin typeface="Poppins"/>
                <a:ea typeface="Poppins"/>
                <a:cs typeface="Poppins"/>
                <a:sym typeface="Poppins"/>
              </a:rPr>
              <a:t>FAISS vector search</a:t>
            </a:r>
          </a:p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 spc="-114">
                <a:solidFill>
                  <a:srgbClr val="EBF5FE"/>
                </a:solidFill>
                <a:latin typeface="Poppins"/>
                <a:ea typeface="Poppins"/>
                <a:cs typeface="Poppins"/>
                <a:sym typeface="Poppins"/>
              </a:rPr>
              <a:t>LangGraph workflow</a:t>
            </a:r>
          </a:p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 spc="-114">
                <a:solidFill>
                  <a:srgbClr val="EBF5FE"/>
                </a:solidFill>
                <a:latin typeface="Poppins"/>
                <a:ea typeface="Poppins"/>
                <a:cs typeface="Poppins"/>
                <a:sym typeface="Poppins"/>
              </a:rPr>
              <a:t>Ollama-based answer generation</a:t>
            </a:r>
          </a:p>
          <a:p>
            <a:pPr algn="just">
              <a:lnSpc>
                <a:spcPts val="3499"/>
              </a:lnSpc>
              <a:spcBef>
                <a:spcPct val="0"/>
              </a:spcBef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593325" y="7218631"/>
            <a:ext cx="11940439" cy="2632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spc="-114">
                <a:solidFill>
                  <a:srgbClr val="EBF5FE"/>
                </a:solidFill>
                <a:latin typeface="Poppins"/>
                <a:ea typeface="Poppins"/>
                <a:cs typeface="Poppins"/>
                <a:sym typeface="Poppins"/>
              </a:rPr>
              <a:t>Future Roadmap: </a:t>
            </a:r>
          </a:p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 spc="-114">
                <a:solidFill>
                  <a:srgbClr val="EBF5FE"/>
                </a:solidFill>
                <a:latin typeface="Poppins"/>
                <a:ea typeface="Poppins"/>
                <a:cs typeface="Poppins"/>
                <a:sym typeface="Poppins"/>
              </a:rPr>
              <a:t>Improve re</a:t>
            </a:r>
            <a:r>
              <a:rPr lang="en-US" sz="2499" spc="-114">
                <a:solidFill>
                  <a:srgbClr val="EBF5FE"/>
                </a:solidFill>
                <a:latin typeface="Poppins"/>
                <a:ea typeface="Poppins"/>
                <a:cs typeface="Poppins"/>
                <a:sym typeface="Poppins"/>
              </a:rPr>
              <a:t>trieval quality through chunk-size tuning and reranking.</a:t>
            </a:r>
          </a:p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 spc="-114">
                <a:solidFill>
                  <a:srgbClr val="EBF5FE"/>
                </a:solidFill>
                <a:latin typeface="Poppins"/>
                <a:ea typeface="Poppins"/>
                <a:cs typeface="Poppins"/>
                <a:sym typeface="Poppins"/>
              </a:rPr>
              <a:t>Add document citations and support for additional file formats.</a:t>
            </a:r>
          </a:p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 spc="-114">
                <a:solidFill>
                  <a:srgbClr val="EBF5FE"/>
                </a:solidFill>
                <a:latin typeface="Poppins"/>
                <a:ea typeface="Poppins"/>
                <a:cs typeface="Poppins"/>
                <a:sym typeface="Poppins"/>
              </a:rPr>
              <a:t>I</a:t>
            </a:r>
            <a:r>
              <a:rPr lang="en-US" sz="2499" spc="-114">
                <a:solidFill>
                  <a:srgbClr val="EBF5FE"/>
                </a:solidFill>
                <a:latin typeface="Poppins"/>
                <a:ea typeface="Poppins"/>
                <a:cs typeface="Poppins"/>
                <a:sym typeface="Poppins"/>
              </a:rPr>
              <a:t>ntegrate enterprise knowledge sources.</a:t>
            </a:r>
          </a:p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 spc="-114">
                <a:solidFill>
                  <a:srgbClr val="EBF5FE"/>
                </a:solidFill>
                <a:latin typeface="Poppins"/>
                <a:ea typeface="Poppins"/>
                <a:cs typeface="Poppins"/>
                <a:sym typeface="Poppins"/>
              </a:rPr>
              <a:t>Introduce MCP</a:t>
            </a:r>
            <a:r>
              <a:rPr lang="en-US" sz="2499" spc="-114">
                <a:solidFill>
                  <a:srgbClr val="EBF5FE"/>
                </a:solidFill>
                <a:latin typeface="Poppins"/>
                <a:ea typeface="Poppins"/>
                <a:cs typeface="Poppins"/>
                <a:sym typeface="Poppins"/>
              </a:rPr>
              <a:t>-based tool integration and AI agents if required.</a:t>
            </a:r>
          </a:p>
          <a:p>
            <a:pPr algn="just">
              <a:lnSpc>
                <a:spcPts val="349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5284FF">
                <a:alpha val="100000"/>
              </a:srgbClr>
            </a:gs>
            <a:gs pos="100000">
              <a:srgbClr val="000422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784291" y="901942"/>
            <a:ext cx="475009" cy="475009"/>
          </a:xfrm>
          <a:custGeom>
            <a:avLst/>
            <a:gdLst/>
            <a:ahLst/>
            <a:cxnLst/>
            <a:rect r="r" b="b" t="t" l="l"/>
            <a:pathLst>
              <a:path h="475009" w="475009">
                <a:moveTo>
                  <a:pt x="0" y="0"/>
                </a:moveTo>
                <a:lnTo>
                  <a:pt x="475009" y="0"/>
                </a:lnTo>
                <a:lnTo>
                  <a:pt x="475009" y="475009"/>
                </a:lnTo>
                <a:lnTo>
                  <a:pt x="0" y="4750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104900" y="2621180"/>
            <a:ext cx="4017831" cy="701294"/>
          </a:xfrm>
          <a:custGeom>
            <a:avLst/>
            <a:gdLst/>
            <a:ahLst/>
            <a:cxnLst/>
            <a:rect r="r" b="b" t="t" l="l"/>
            <a:pathLst>
              <a:path h="701294" w="4017831">
                <a:moveTo>
                  <a:pt x="0" y="0"/>
                </a:moveTo>
                <a:lnTo>
                  <a:pt x="4017831" y="0"/>
                </a:lnTo>
                <a:lnTo>
                  <a:pt x="4017831" y="701294"/>
                </a:lnTo>
                <a:lnTo>
                  <a:pt x="0" y="70129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48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507300" y="1550369"/>
            <a:ext cx="5507848" cy="10708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8703"/>
              </a:lnSpc>
              <a:spcBef>
                <a:spcPct val="0"/>
              </a:spcBef>
            </a:pPr>
            <a:r>
              <a:rPr lang="en-US" b="true" sz="6217" spc="-285">
                <a:solidFill>
                  <a:srgbClr val="EBF5FE"/>
                </a:solidFill>
                <a:latin typeface="Garet Bold"/>
                <a:ea typeface="Garet Bold"/>
                <a:cs typeface="Garet Bold"/>
                <a:sym typeface="Garet Bold"/>
              </a:rPr>
              <a:t>CONCL</a:t>
            </a:r>
            <a:r>
              <a:rPr lang="en-US" b="true" sz="6217" spc="-285">
                <a:solidFill>
                  <a:srgbClr val="EBF5FE"/>
                </a:solidFill>
                <a:latin typeface="Garet Bold"/>
                <a:ea typeface="Garet Bold"/>
                <a:cs typeface="Garet Bold"/>
                <a:sym typeface="Garet Bold"/>
              </a:rPr>
              <a:t>USION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727020" y="3508638"/>
            <a:ext cx="1334804" cy="771525"/>
            <a:chOff x="0" y="0"/>
            <a:chExt cx="703107" cy="4064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703107" cy="406400"/>
            </a:xfrm>
            <a:custGeom>
              <a:avLst/>
              <a:gdLst/>
              <a:ahLst/>
              <a:cxnLst/>
              <a:rect r="r" b="b" t="t" l="l"/>
              <a:pathLst>
                <a:path h="406400" w="703107">
                  <a:moveTo>
                    <a:pt x="499907" y="0"/>
                  </a:moveTo>
                  <a:cubicBezTo>
                    <a:pt x="612131" y="0"/>
                    <a:pt x="703107" y="90976"/>
                    <a:pt x="703107" y="203200"/>
                  </a:cubicBezTo>
                  <a:cubicBezTo>
                    <a:pt x="703107" y="315424"/>
                    <a:pt x="612131" y="406400"/>
                    <a:pt x="499907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284FF">
                    <a:alpha val="100000"/>
                  </a:srgbClr>
                </a:gs>
                <a:gs pos="100000">
                  <a:srgbClr val="000422">
                    <a:alpha val="100000"/>
                  </a:srgbClr>
                </a:gs>
              </a:gsLst>
              <a:lin ang="0"/>
            </a:gradFill>
            <a:ln w="4762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66675"/>
              <a:ext cx="703107" cy="473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 marL="599568" indent="-299784" lvl="1">
                <a:lnSpc>
                  <a:spcPts val="3887"/>
                </a:lnSpc>
                <a:buAutoNum type="arabicPeriod" startAt="1"/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727020" y="3508638"/>
            <a:ext cx="14343340" cy="771525"/>
            <a:chOff x="0" y="0"/>
            <a:chExt cx="19124453" cy="1028700"/>
          </a:xfrm>
        </p:grpSpPr>
        <p:grpSp>
          <p:nvGrpSpPr>
            <p:cNvPr name="Group 9" id="9"/>
            <p:cNvGrpSpPr/>
            <p:nvPr/>
          </p:nvGrpSpPr>
          <p:grpSpPr>
            <a:xfrm rot="0">
              <a:off x="0" y="0"/>
              <a:ext cx="19124453" cy="1028700"/>
              <a:chOff x="0" y="0"/>
              <a:chExt cx="7555340" cy="4064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7555340" cy="406400"/>
              </a:xfrm>
              <a:custGeom>
                <a:avLst/>
                <a:gdLst/>
                <a:ahLst/>
                <a:cxnLst/>
                <a:rect r="r" b="b" t="t" l="l"/>
                <a:pathLst>
                  <a:path h="406400" w="7555340">
                    <a:moveTo>
                      <a:pt x="7352140" y="0"/>
                    </a:moveTo>
                    <a:cubicBezTo>
                      <a:pt x="7464364" y="0"/>
                      <a:pt x="7555340" y="90976"/>
                      <a:pt x="7555340" y="203200"/>
                    </a:cubicBezTo>
                    <a:cubicBezTo>
                      <a:pt x="7555340" y="315424"/>
                      <a:pt x="7464364" y="406400"/>
                      <a:pt x="7352140" y="406400"/>
                    </a:cubicBezTo>
                    <a:lnTo>
                      <a:pt x="203200" y="406400"/>
                    </a:lnTo>
                    <a:cubicBezTo>
                      <a:pt x="90976" y="406400"/>
                      <a:pt x="0" y="315424"/>
                      <a:pt x="0" y="203200"/>
                    </a:cubicBezTo>
                    <a:cubicBezTo>
                      <a:pt x="0" y="90976"/>
                      <a:pt x="90976" y="0"/>
                      <a:pt x="203200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9FCDFF">
                      <a:alpha val="0"/>
                    </a:srgbClr>
                  </a:gs>
                  <a:gs pos="100000">
                    <a:srgbClr val="3964CD">
                      <a:alpha val="100000"/>
                    </a:srgbClr>
                  </a:gs>
                </a:gsLst>
                <a:lin ang="0"/>
              </a:gradFill>
              <a:ln w="47625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28575"/>
                <a:ext cx="7555340" cy="4349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487"/>
                  </a:lnSpc>
                </a:pPr>
              </a:p>
            </p:txBody>
          </p:sp>
        </p:grpSp>
        <p:sp>
          <p:nvSpPr>
            <p:cNvPr name="TextBox 12" id="12"/>
            <p:cNvSpPr txBox="true"/>
            <p:nvPr/>
          </p:nvSpPr>
          <p:spPr>
            <a:xfrm rot="0">
              <a:off x="2192060" y="200463"/>
              <a:ext cx="14740333" cy="58014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711"/>
                </a:lnSpc>
                <a:spcBef>
                  <a:spcPct val="0"/>
                </a:spcBef>
              </a:pPr>
              <a:r>
                <a:rPr lang="en-US" b="true" sz="2650" spc="-121">
                  <a:solidFill>
                    <a:srgbClr val="EBF5FE"/>
                  </a:solidFill>
                  <a:latin typeface="Garet Bold"/>
                  <a:ea typeface="Garet Bold"/>
                  <a:cs typeface="Garet Bold"/>
                  <a:sym typeface="Garet Bold"/>
                </a:rPr>
                <a:t>Retrieves relevant information from uploaded PDFs.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234793" y="206243"/>
              <a:ext cx="1186845" cy="58014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711"/>
                </a:lnSpc>
                <a:spcBef>
                  <a:spcPct val="0"/>
                </a:spcBef>
              </a:pPr>
              <a:r>
                <a:rPr lang="en-US" b="true" sz="2650" spc="-121">
                  <a:solidFill>
                    <a:srgbClr val="EBF5FE"/>
                  </a:solidFill>
                  <a:latin typeface="Garet Bold"/>
                  <a:ea typeface="Garet Bold"/>
                  <a:cs typeface="Garet Bold"/>
                  <a:sym typeface="Garet Bold"/>
                </a:rPr>
                <a:t>01.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727020" y="4765938"/>
            <a:ext cx="1334804" cy="771525"/>
            <a:chOff x="0" y="0"/>
            <a:chExt cx="703107" cy="4064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03107" cy="406400"/>
            </a:xfrm>
            <a:custGeom>
              <a:avLst/>
              <a:gdLst/>
              <a:ahLst/>
              <a:cxnLst/>
              <a:rect r="r" b="b" t="t" l="l"/>
              <a:pathLst>
                <a:path h="406400" w="703107">
                  <a:moveTo>
                    <a:pt x="499907" y="0"/>
                  </a:moveTo>
                  <a:cubicBezTo>
                    <a:pt x="612131" y="0"/>
                    <a:pt x="703107" y="90976"/>
                    <a:pt x="703107" y="203200"/>
                  </a:cubicBezTo>
                  <a:cubicBezTo>
                    <a:pt x="703107" y="315424"/>
                    <a:pt x="612131" y="406400"/>
                    <a:pt x="499907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284FF">
                    <a:alpha val="100000"/>
                  </a:srgbClr>
                </a:gs>
                <a:gs pos="100000">
                  <a:srgbClr val="000422">
                    <a:alpha val="100000"/>
                  </a:srgbClr>
                </a:gs>
              </a:gsLst>
              <a:lin ang="0"/>
            </a:gradFill>
            <a:ln w="4762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66675"/>
              <a:ext cx="703107" cy="473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 marL="599568" indent="-299784" lvl="1">
                <a:lnSpc>
                  <a:spcPts val="3887"/>
                </a:lnSpc>
                <a:buAutoNum type="arabicPeriod" startAt="1"/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727020" y="4756413"/>
            <a:ext cx="14343340" cy="771525"/>
            <a:chOff x="0" y="0"/>
            <a:chExt cx="19124453" cy="1028700"/>
          </a:xfrm>
        </p:grpSpPr>
        <p:grpSp>
          <p:nvGrpSpPr>
            <p:cNvPr name="Group 18" id="18"/>
            <p:cNvGrpSpPr/>
            <p:nvPr/>
          </p:nvGrpSpPr>
          <p:grpSpPr>
            <a:xfrm rot="0">
              <a:off x="0" y="0"/>
              <a:ext cx="19124453" cy="1028700"/>
              <a:chOff x="0" y="0"/>
              <a:chExt cx="7555340" cy="406400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7555340" cy="406400"/>
              </a:xfrm>
              <a:custGeom>
                <a:avLst/>
                <a:gdLst/>
                <a:ahLst/>
                <a:cxnLst/>
                <a:rect r="r" b="b" t="t" l="l"/>
                <a:pathLst>
                  <a:path h="406400" w="7555340">
                    <a:moveTo>
                      <a:pt x="7352140" y="0"/>
                    </a:moveTo>
                    <a:cubicBezTo>
                      <a:pt x="7464364" y="0"/>
                      <a:pt x="7555340" y="90976"/>
                      <a:pt x="7555340" y="203200"/>
                    </a:cubicBezTo>
                    <a:cubicBezTo>
                      <a:pt x="7555340" y="315424"/>
                      <a:pt x="7464364" y="406400"/>
                      <a:pt x="7352140" y="406400"/>
                    </a:cubicBezTo>
                    <a:lnTo>
                      <a:pt x="203200" y="406400"/>
                    </a:lnTo>
                    <a:cubicBezTo>
                      <a:pt x="90976" y="406400"/>
                      <a:pt x="0" y="315424"/>
                      <a:pt x="0" y="203200"/>
                    </a:cubicBezTo>
                    <a:cubicBezTo>
                      <a:pt x="0" y="90976"/>
                      <a:pt x="90976" y="0"/>
                      <a:pt x="203200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9FCDFF">
                      <a:alpha val="0"/>
                    </a:srgbClr>
                  </a:gs>
                  <a:gs pos="100000">
                    <a:srgbClr val="3964CD">
                      <a:alpha val="100000"/>
                    </a:srgbClr>
                  </a:gs>
                </a:gsLst>
                <a:lin ang="0"/>
              </a:gradFill>
              <a:ln w="47625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-28575"/>
                <a:ext cx="7555340" cy="4349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487"/>
                  </a:lnSpc>
                </a:pPr>
              </a:p>
            </p:txBody>
          </p:sp>
        </p:grpSp>
        <p:sp>
          <p:nvSpPr>
            <p:cNvPr name="TextBox 21" id="21"/>
            <p:cNvSpPr txBox="true"/>
            <p:nvPr/>
          </p:nvSpPr>
          <p:spPr>
            <a:xfrm rot="0">
              <a:off x="2192060" y="200463"/>
              <a:ext cx="14740333" cy="58014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711"/>
                </a:lnSpc>
                <a:spcBef>
                  <a:spcPct val="0"/>
                </a:spcBef>
              </a:pPr>
              <a:r>
                <a:rPr lang="en-US" b="true" sz="2650" spc="-121">
                  <a:solidFill>
                    <a:srgbClr val="EBF5FE"/>
                  </a:solidFill>
                  <a:latin typeface="Garet Bold"/>
                  <a:ea typeface="Garet Bold"/>
                  <a:cs typeface="Garet Bold"/>
                  <a:sym typeface="Garet Bold"/>
                </a:rPr>
                <a:t>Uses embeddings and FAISS for semantic search.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234793" y="206243"/>
              <a:ext cx="1186845" cy="58014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711"/>
                </a:lnSpc>
                <a:spcBef>
                  <a:spcPct val="0"/>
                </a:spcBef>
              </a:pPr>
              <a:r>
                <a:rPr lang="en-US" b="true" sz="2650" spc="-121">
                  <a:solidFill>
                    <a:srgbClr val="EBF5FE"/>
                  </a:solidFill>
                  <a:latin typeface="Garet Bold"/>
                  <a:ea typeface="Garet Bold"/>
                  <a:cs typeface="Garet Bold"/>
                  <a:sym typeface="Garet Bold"/>
                </a:rPr>
                <a:t>02.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727020" y="5994663"/>
            <a:ext cx="1334804" cy="771525"/>
            <a:chOff x="0" y="0"/>
            <a:chExt cx="703107" cy="4064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703107" cy="406400"/>
            </a:xfrm>
            <a:custGeom>
              <a:avLst/>
              <a:gdLst/>
              <a:ahLst/>
              <a:cxnLst/>
              <a:rect r="r" b="b" t="t" l="l"/>
              <a:pathLst>
                <a:path h="406400" w="703107">
                  <a:moveTo>
                    <a:pt x="499907" y="0"/>
                  </a:moveTo>
                  <a:cubicBezTo>
                    <a:pt x="612131" y="0"/>
                    <a:pt x="703107" y="90976"/>
                    <a:pt x="703107" y="203200"/>
                  </a:cubicBezTo>
                  <a:cubicBezTo>
                    <a:pt x="703107" y="315424"/>
                    <a:pt x="612131" y="406400"/>
                    <a:pt x="499907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284FF">
                    <a:alpha val="100000"/>
                  </a:srgbClr>
                </a:gs>
                <a:gs pos="100000">
                  <a:srgbClr val="000422">
                    <a:alpha val="100000"/>
                  </a:srgbClr>
                </a:gs>
              </a:gsLst>
              <a:lin ang="0"/>
            </a:gradFill>
            <a:ln w="4762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-66675"/>
              <a:ext cx="703107" cy="473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 marL="599568" indent="-299784" lvl="1">
                <a:lnSpc>
                  <a:spcPts val="3887"/>
                </a:lnSpc>
                <a:buAutoNum type="arabicPeriod" startAt="1"/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727020" y="6004188"/>
            <a:ext cx="14343340" cy="771525"/>
            <a:chOff x="0" y="0"/>
            <a:chExt cx="19124453" cy="1028700"/>
          </a:xfrm>
        </p:grpSpPr>
        <p:grpSp>
          <p:nvGrpSpPr>
            <p:cNvPr name="Group 27" id="27"/>
            <p:cNvGrpSpPr/>
            <p:nvPr/>
          </p:nvGrpSpPr>
          <p:grpSpPr>
            <a:xfrm rot="0">
              <a:off x="0" y="0"/>
              <a:ext cx="19124453" cy="1028700"/>
              <a:chOff x="0" y="0"/>
              <a:chExt cx="7555340" cy="406400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7555340" cy="406400"/>
              </a:xfrm>
              <a:custGeom>
                <a:avLst/>
                <a:gdLst/>
                <a:ahLst/>
                <a:cxnLst/>
                <a:rect r="r" b="b" t="t" l="l"/>
                <a:pathLst>
                  <a:path h="406400" w="7555340">
                    <a:moveTo>
                      <a:pt x="7352140" y="0"/>
                    </a:moveTo>
                    <a:cubicBezTo>
                      <a:pt x="7464364" y="0"/>
                      <a:pt x="7555340" y="90976"/>
                      <a:pt x="7555340" y="203200"/>
                    </a:cubicBezTo>
                    <a:cubicBezTo>
                      <a:pt x="7555340" y="315424"/>
                      <a:pt x="7464364" y="406400"/>
                      <a:pt x="7352140" y="406400"/>
                    </a:cubicBezTo>
                    <a:lnTo>
                      <a:pt x="203200" y="406400"/>
                    </a:lnTo>
                    <a:cubicBezTo>
                      <a:pt x="90976" y="406400"/>
                      <a:pt x="0" y="315424"/>
                      <a:pt x="0" y="203200"/>
                    </a:cubicBezTo>
                    <a:cubicBezTo>
                      <a:pt x="0" y="90976"/>
                      <a:pt x="90976" y="0"/>
                      <a:pt x="203200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9FCDFF">
                      <a:alpha val="0"/>
                    </a:srgbClr>
                  </a:gs>
                  <a:gs pos="100000">
                    <a:srgbClr val="3964CD">
                      <a:alpha val="100000"/>
                    </a:srgbClr>
                  </a:gs>
                </a:gsLst>
                <a:lin ang="0"/>
              </a:gradFill>
              <a:ln w="47625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name="TextBox 29" id="29"/>
              <p:cNvSpPr txBox="true"/>
              <p:nvPr/>
            </p:nvSpPr>
            <p:spPr>
              <a:xfrm>
                <a:off x="0" y="-28575"/>
                <a:ext cx="7555340" cy="4349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487"/>
                  </a:lnSpc>
                </a:pPr>
              </a:p>
            </p:txBody>
          </p:sp>
        </p:grpSp>
        <p:sp>
          <p:nvSpPr>
            <p:cNvPr name="TextBox 30" id="30"/>
            <p:cNvSpPr txBox="true"/>
            <p:nvPr/>
          </p:nvSpPr>
          <p:spPr>
            <a:xfrm rot="0">
              <a:off x="2192060" y="200463"/>
              <a:ext cx="14740333" cy="58014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711"/>
                </a:lnSpc>
                <a:spcBef>
                  <a:spcPct val="0"/>
                </a:spcBef>
              </a:pPr>
              <a:r>
                <a:rPr lang="en-US" b="true" sz="2650" spc="-121">
                  <a:solidFill>
                    <a:srgbClr val="EBF5FE"/>
                  </a:solidFill>
                  <a:latin typeface="Garet Bold"/>
                  <a:ea typeface="Garet Bold"/>
                  <a:cs typeface="Garet Bold"/>
                  <a:sym typeface="Garet Bold"/>
                </a:rPr>
                <a:t>Uses LangGraph to organize the retrieval and response workflow.</a:t>
              </a:r>
            </a:p>
          </p:txBody>
        </p:sp>
        <p:sp>
          <p:nvSpPr>
            <p:cNvPr name="TextBox 31" id="31"/>
            <p:cNvSpPr txBox="true"/>
            <p:nvPr/>
          </p:nvSpPr>
          <p:spPr>
            <a:xfrm rot="0">
              <a:off x="234793" y="206243"/>
              <a:ext cx="1186845" cy="58014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711"/>
                </a:lnSpc>
                <a:spcBef>
                  <a:spcPct val="0"/>
                </a:spcBef>
              </a:pPr>
              <a:r>
                <a:rPr lang="en-US" b="true" sz="2650" spc="-121">
                  <a:solidFill>
                    <a:srgbClr val="EBF5FE"/>
                  </a:solidFill>
                  <a:latin typeface="Garet Bold"/>
                  <a:ea typeface="Garet Bold"/>
                  <a:cs typeface="Garet Bold"/>
                  <a:sym typeface="Garet Bold"/>
                </a:rPr>
                <a:t>03.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727020" y="7261488"/>
            <a:ext cx="1334804" cy="771525"/>
            <a:chOff x="0" y="0"/>
            <a:chExt cx="703107" cy="4064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703107" cy="406400"/>
            </a:xfrm>
            <a:custGeom>
              <a:avLst/>
              <a:gdLst/>
              <a:ahLst/>
              <a:cxnLst/>
              <a:rect r="r" b="b" t="t" l="l"/>
              <a:pathLst>
                <a:path h="406400" w="703107">
                  <a:moveTo>
                    <a:pt x="499907" y="0"/>
                  </a:moveTo>
                  <a:cubicBezTo>
                    <a:pt x="612131" y="0"/>
                    <a:pt x="703107" y="90976"/>
                    <a:pt x="703107" y="203200"/>
                  </a:cubicBezTo>
                  <a:cubicBezTo>
                    <a:pt x="703107" y="315424"/>
                    <a:pt x="612131" y="406400"/>
                    <a:pt x="499907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284FF">
                    <a:alpha val="100000"/>
                  </a:srgbClr>
                </a:gs>
                <a:gs pos="100000">
                  <a:srgbClr val="000422">
                    <a:alpha val="100000"/>
                  </a:srgbClr>
                </a:gs>
              </a:gsLst>
              <a:lin ang="0"/>
            </a:gradFill>
            <a:ln w="4762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34" id="34"/>
            <p:cNvSpPr txBox="true"/>
            <p:nvPr/>
          </p:nvSpPr>
          <p:spPr>
            <a:xfrm>
              <a:off x="0" y="-66675"/>
              <a:ext cx="703107" cy="473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 marL="599568" indent="-299784" lvl="1">
                <a:lnSpc>
                  <a:spcPts val="3887"/>
                </a:lnSpc>
                <a:buAutoNum type="arabicPeriod" startAt="1"/>
              </a:pP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727020" y="7251963"/>
            <a:ext cx="14343340" cy="771525"/>
            <a:chOff x="0" y="0"/>
            <a:chExt cx="19124453" cy="1028700"/>
          </a:xfrm>
        </p:grpSpPr>
        <p:grpSp>
          <p:nvGrpSpPr>
            <p:cNvPr name="Group 36" id="36"/>
            <p:cNvGrpSpPr/>
            <p:nvPr/>
          </p:nvGrpSpPr>
          <p:grpSpPr>
            <a:xfrm rot="0">
              <a:off x="0" y="0"/>
              <a:ext cx="19124453" cy="1028700"/>
              <a:chOff x="0" y="0"/>
              <a:chExt cx="7555340" cy="406400"/>
            </a:xfrm>
          </p:grpSpPr>
          <p:sp>
            <p:nvSpPr>
              <p:cNvPr name="Freeform 37" id="37"/>
              <p:cNvSpPr/>
              <p:nvPr/>
            </p:nvSpPr>
            <p:spPr>
              <a:xfrm flipH="false" flipV="false" rot="0">
                <a:off x="0" y="0"/>
                <a:ext cx="7555340" cy="406400"/>
              </a:xfrm>
              <a:custGeom>
                <a:avLst/>
                <a:gdLst/>
                <a:ahLst/>
                <a:cxnLst/>
                <a:rect r="r" b="b" t="t" l="l"/>
                <a:pathLst>
                  <a:path h="406400" w="7555340">
                    <a:moveTo>
                      <a:pt x="7352140" y="0"/>
                    </a:moveTo>
                    <a:cubicBezTo>
                      <a:pt x="7464364" y="0"/>
                      <a:pt x="7555340" y="90976"/>
                      <a:pt x="7555340" y="203200"/>
                    </a:cubicBezTo>
                    <a:cubicBezTo>
                      <a:pt x="7555340" y="315424"/>
                      <a:pt x="7464364" y="406400"/>
                      <a:pt x="7352140" y="406400"/>
                    </a:cubicBezTo>
                    <a:lnTo>
                      <a:pt x="203200" y="406400"/>
                    </a:lnTo>
                    <a:cubicBezTo>
                      <a:pt x="90976" y="406400"/>
                      <a:pt x="0" y="315424"/>
                      <a:pt x="0" y="203200"/>
                    </a:cubicBezTo>
                    <a:cubicBezTo>
                      <a:pt x="0" y="90976"/>
                      <a:pt x="90976" y="0"/>
                      <a:pt x="203200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9FCDFF">
                      <a:alpha val="0"/>
                    </a:srgbClr>
                  </a:gs>
                  <a:gs pos="100000">
                    <a:srgbClr val="3964CD">
                      <a:alpha val="100000"/>
                    </a:srgbClr>
                  </a:gs>
                </a:gsLst>
                <a:lin ang="0"/>
              </a:gradFill>
              <a:ln w="47625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name="TextBox 38" id="38"/>
              <p:cNvSpPr txBox="true"/>
              <p:nvPr/>
            </p:nvSpPr>
            <p:spPr>
              <a:xfrm>
                <a:off x="0" y="-28575"/>
                <a:ext cx="7555340" cy="4349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487"/>
                  </a:lnSpc>
                </a:pPr>
              </a:p>
            </p:txBody>
          </p:sp>
        </p:grpSp>
        <p:sp>
          <p:nvSpPr>
            <p:cNvPr name="TextBox 39" id="39"/>
            <p:cNvSpPr txBox="true"/>
            <p:nvPr/>
          </p:nvSpPr>
          <p:spPr>
            <a:xfrm rot="0">
              <a:off x="2192060" y="200463"/>
              <a:ext cx="14740333" cy="58014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711"/>
                </a:lnSpc>
                <a:spcBef>
                  <a:spcPct val="0"/>
                </a:spcBef>
              </a:pPr>
              <a:r>
                <a:rPr lang="en-US" b="true" sz="2650" spc="-121">
                  <a:solidFill>
                    <a:srgbClr val="EBF5FE"/>
                  </a:solidFill>
                  <a:latin typeface="Garet Bold"/>
                  <a:ea typeface="Garet Bold"/>
                  <a:cs typeface="Garet Bold"/>
                  <a:sym typeface="Garet Bold"/>
                </a:rPr>
                <a:t>Uses an LLM to generate context-grounded answers.</a:t>
              </a:r>
            </a:p>
          </p:txBody>
        </p:sp>
        <p:sp>
          <p:nvSpPr>
            <p:cNvPr name="TextBox 40" id="40"/>
            <p:cNvSpPr txBox="true"/>
            <p:nvPr/>
          </p:nvSpPr>
          <p:spPr>
            <a:xfrm rot="0">
              <a:off x="234793" y="206243"/>
              <a:ext cx="1186845" cy="58014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711"/>
                </a:lnSpc>
                <a:spcBef>
                  <a:spcPct val="0"/>
                </a:spcBef>
              </a:pPr>
              <a:r>
                <a:rPr lang="en-US" b="true" sz="2650" spc="-121">
                  <a:solidFill>
                    <a:srgbClr val="EBF5FE"/>
                  </a:solidFill>
                  <a:latin typeface="Garet Bold"/>
                  <a:ea typeface="Garet Bold"/>
                  <a:cs typeface="Garet Bold"/>
                  <a:sym typeface="Garet Bold"/>
                </a:rPr>
                <a:t>04.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727020" y="8499738"/>
            <a:ext cx="1334804" cy="771525"/>
            <a:chOff x="0" y="0"/>
            <a:chExt cx="703107" cy="40640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703107" cy="406400"/>
            </a:xfrm>
            <a:custGeom>
              <a:avLst/>
              <a:gdLst/>
              <a:ahLst/>
              <a:cxnLst/>
              <a:rect r="r" b="b" t="t" l="l"/>
              <a:pathLst>
                <a:path h="406400" w="703107">
                  <a:moveTo>
                    <a:pt x="499907" y="0"/>
                  </a:moveTo>
                  <a:cubicBezTo>
                    <a:pt x="612131" y="0"/>
                    <a:pt x="703107" y="90976"/>
                    <a:pt x="703107" y="203200"/>
                  </a:cubicBezTo>
                  <a:cubicBezTo>
                    <a:pt x="703107" y="315424"/>
                    <a:pt x="612131" y="406400"/>
                    <a:pt x="499907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284FF">
                    <a:alpha val="100000"/>
                  </a:srgbClr>
                </a:gs>
                <a:gs pos="100000">
                  <a:srgbClr val="000422">
                    <a:alpha val="100000"/>
                  </a:srgbClr>
                </a:gs>
              </a:gsLst>
              <a:lin ang="0"/>
            </a:gradFill>
            <a:ln w="4762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43" id="43"/>
            <p:cNvSpPr txBox="true"/>
            <p:nvPr/>
          </p:nvSpPr>
          <p:spPr>
            <a:xfrm>
              <a:off x="0" y="-66675"/>
              <a:ext cx="703107" cy="473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 marL="599568" indent="-299784" lvl="1">
                <a:lnSpc>
                  <a:spcPts val="3887"/>
                </a:lnSpc>
                <a:buAutoNum type="arabicPeriod" startAt="1"/>
              </a:pP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727020" y="8506476"/>
            <a:ext cx="14343340" cy="771525"/>
            <a:chOff x="0" y="0"/>
            <a:chExt cx="19124453" cy="1028700"/>
          </a:xfrm>
        </p:grpSpPr>
        <p:grpSp>
          <p:nvGrpSpPr>
            <p:cNvPr name="Group 45" id="45"/>
            <p:cNvGrpSpPr/>
            <p:nvPr/>
          </p:nvGrpSpPr>
          <p:grpSpPr>
            <a:xfrm rot="0">
              <a:off x="0" y="0"/>
              <a:ext cx="19124453" cy="1028700"/>
              <a:chOff x="0" y="0"/>
              <a:chExt cx="7555340" cy="406400"/>
            </a:xfrm>
          </p:grpSpPr>
          <p:sp>
            <p:nvSpPr>
              <p:cNvPr name="Freeform 46" id="46"/>
              <p:cNvSpPr/>
              <p:nvPr/>
            </p:nvSpPr>
            <p:spPr>
              <a:xfrm flipH="false" flipV="false" rot="0">
                <a:off x="0" y="0"/>
                <a:ext cx="7555340" cy="406400"/>
              </a:xfrm>
              <a:custGeom>
                <a:avLst/>
                <a:gdLst/>
                <a:ahLst/>
                <a:cxnLst/>
                <a:rect r="r" b="b" t="t" l="l"/>
                <a:pathLst>
                  <a:path h="406400" w="7555340">
                    <a:moveTo>
                      <a:pt x="7352140" y="0"/>
                    </a:moveTo>
                    <a:cubicBezTo>
                      <a:pt x="7464364" y="0"/>
                      <a:pt x="7555340" y="90976"/>
                      <a:pt x="7555340" y="203200"/>
                    </a:cubicBezTo>
                    <a:cubicBezTo>
                      <a:pt x="7555340" y="315424"/>
                      <a:pt x="7464364" y="406400"/>
                      <a:pt x="7352140" y="406400"/>
                    </a:cubicBezTo>
                    <a:lnTo>
                      <a:pt x="203200" y="406400"/>
                    </a:lnTo>
                    <a:cubicBezTo>
                      <a:pt x="90976" y="406400"/>
                      <a:pt x="0" y="315424"/>
                      <a:pt x="0" y="203200"/>
                    </a:cubicBezTo>
                    <a:cubicBezTo>
                      <a:pt x="0" y="90976"/>
                      <a:pt x="90976" y="0"/>
                      <a:pt x="203200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9FCDFF">
                      <a:alpha val="0"/>
                    </a:srgbClr>
                  </a:gs>
                  <a:gs pos="100000">
                    <a:srgbClr val="3964CD">
                      <a:alpha val="100000"/>
                    </a:srgbClr>
                  </a:gs>
                </a:gsLst>
                <a:lin ang="0"/>
              </a:gradFill>
              <a:ln w="47625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name="TextBox 47" id="47"/>
              <p:cNvSpPr txBox="true"/>
              <p:nvPr/>
            </p:nvSpPr>
            <p:spPr>
              <a:xfrm>
                <a:off x="0" y="-28575"/>
                <a:ext cx="7555340" cy="4349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487"/>
                  </a:lnSpc>
                </a:pPr>
              </a:p>
            </p:txBody>
          </p:sp>
        </p:grpSp>
        <p:sp>
          <p:nvSpPr>
            <p:cNvPr name="TextBox 48" id="48"/>
            <p:cNvSpPr txBox="true"/>
            <p:nvPr/>
          </p:nvSpPr>
          <p:spPr>
            <a:xfrm rot="0">
              <a:off x="2192060" y="200463"/>
              <a:ext cx="14740333" cy="58014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711"/>
                </a:lnSpc>
                <a:spcBef>
                  <a:spcPct val="0"/>
                </a:spcBef>
              </a:pPr>
              <a:r>
                <a:rPr lang="en-US" b="true" sz="2650" spc="-121">
                  <a:solidFill>
                    <a:srgbClr val="EBF5FE"/>
                  </a:solidFill>
                  <a:latin typeface="Garet Bold"/>
                  <a:ea typeface="Garet Bold"/>
                  <a:cs typeface="Garet Bold"/>
                  <a:sym typeface="Garet Bold"/>
                </a:rPr>
                <a:t>Provides an interactive interface through Streamlit.</a:t>
              </a:r>
            </a:p>
          </p:txBody>
        </p:sp>
        <p:sp>
          <p:nvSpPr>
            <p:cNvPr name="TextBox 49" id="49"/>
            <p:cNvSpPr txBox="true"/>
            <p:nvPr/>
          </p:nvSpPr>
          <p:spPr>
            <a:xfrm rot="0">
              <a:off x="234793" y="206243"/>
              <a:ext cx="1186845" cy="58014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711"/>
                </a:lnSpc>
                <a:spcBef>
                  <a:spcPct val="0"/>
                </a:spcBef>
              </a:pPr>
              <a:r>
                <a:rPr lang="en-US" b="true" sz="2650" spc="-121">
                  <a:solidFill>
                    <a:srgbClr val="EBF5FE"/>
                  </a:solidFill>
                  <a:latin typeface="Garet Bold"/>
                  <a:ea typeface="Garet Bold"/>
                  <a:cs typeface="Garet Bold"/>
                  <a:sym typeface="Garet Bold"/>
                </a:rPr>
                <a:t>05.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5284FF">
                <a:alpha val="100000"/>
              </a:srgbClr>
            </a:gs>
            <a:gs pos="100000">
              <a:srgbClr val="000422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10407285">
            <a:off x="3958143" y="-42357"/>
            <a:ext cx="10371714" cy="10371714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9FCDFF">
                    <a:alpha val="0"/>
                  </a:srgbClr>
                </a:gs>
                <a:gs pos="100000">
                  <a:srgbClr val="3964CD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10407285">
            <a:off x="5363810" y="1434956"/>
            <a:ext cx="7560380" cy="7560380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9FCDFF">
                    <a:alpha val="0"/>
                  </a:srgbClr>
                </a:gs>
                <a:gs pos="100000">
                  <a:srgbClr val="3964CD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0" y="1858376"/>
            <a:ext cx="6442371" cy="6726915"/>
          </a:xfrm>
          <a:custGeom>
            <a:avLst/>
            <a:gdLst/>
            <a:ahLst/>
            <a:cxnLst/>
            <a:rect r="r" b="b" t="t" l="l"/>
            <a:pathLst>
              <a:path h="6726915" w="6442371">
                <a:moveTo>
                  <a:pt x="0" y="0"/>
                </a:moveTo>
                <a:lnTo>
                  <a:pt x="6442371" y="0"/>
                </a:lnTo>
                <a:lnTo>
                  <a:pt x="6442371" y="6726915"/>
                </a:lnTo>
                <a:lnTo>
                  <a:pt x="0" y="672691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true" flipV="false" rot="0">
            <a:off x="12361310" y="1699773"/>
            <a:ext cx="6442371" cy="6726915"/>
          </a:xfrm>
          <a:custGeom>
            <a:avLst/>
            <a:gdLst/>
            <a:ahLst/>
            <a:cxnLst/>
            <a:rect r="r" b="b" t="t" l="l"/>
            <a:pathLst>
              <a:path h="6726915" w="6442371">
                <a:moveTo>
                  <a:pt x="6442371" y="0"/>
                </a:moveTo>
                <a:lnTo>
                  <a:pt x="0" y="0"/>
                </a:lnTo>
                <a:lnTo>
                  <a:pt x="0" y="6726915"/>
                </a:lnTo>
                <a:lnTo>
                  <a:pt x="6442371" y="6726915"/>
                </a:lnTo>
                <a:lnTo>
                  <a:pt x="6442371" y="0"/>
                </a:lnTo>
                <a:close/>
              </a:path>
            </a:pathLst>
          </a:custGeom>
          <a:blipFill>
            <a:blip r:embed="rId2">
              <a:alphaModFix amt="3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6523108" y="3164434"/>
            <a:ext cx="5241783" cy="4114800"/>
          </a:xfrm>
          <a:custGeom>
            <a:avLst/>
            <a:gdLst/>
            <a:ahLst/>
            <a:cxnLst/>
            <a:rect r="r" b="b" t="t" l="l"/>
            <a:pathLst>
              <a:path h="4114800" w="5241783">
                <a:moveTo>
                  <a:pt x="0" y="0"/>
                </a:moveTo>
                <a:lnTo>
                  <a:pt x="5241784" y="0"/>
                </a:lnTo>
                <a:lnTo>
                  <a:pt x="524178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DAHYuoWvIQ8</dc:identifier>
  <dcterms:modified xsi:type="dcterms:W3CDTF">2011-08-01T06:04:30Z</dcterms:modified>
  <cp:revision>1</cp:revision>
  <dc:title>Computer</dc:title>
</cp:coreProperties>
</file>